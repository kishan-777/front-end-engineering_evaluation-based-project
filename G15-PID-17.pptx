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73152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PheW TuBe: Video Streaming Platform</a:t>
            </a:r>
          </a:p>
          <a:p>
            <a:pPr>
              <a:spcBef>
                <a:spcPts val="800"/>
              </a:spcBef>
              <a:defRPr sz="1400" b="1">
                <a:solidFill>
                  <a:srgbClr val="FF0033"/>
                </a:solidFill>
              </a:defRPr>
            </a:pPr>
            <a:r>
              <a:t>Front End Engineering - II (25CSE0203) — Project Based Evaluation-2 (Batch-2025)</a:t>
            </a:r>
          </a:p>
          <a:p>
            <a:pPr>
              <a:spcBef>
                <a:spcPts val="600"/>
              </a:spcBef>
              <a:defRPr sz="1200">
                <a:solidFill>
                  <a:srgbClr val="3EA6FF"/>
                </a:solidFill>
              </a:defRPr>
            </a:pPr>
            <a:r>
              <a:t>Department of Computer Science &amp; Engineering • Chitkara University, Punjab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283464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0033"/>
                </a:solidFill>
              </a:defRPr>
            </a:pPr>
            <a:r>
              <a:t>Supervised By: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Mr. Shubham Kumar</a:t>
            </a:r>
          </a:p>
          <a:p>
            <a:pPr>
              <a:defRPr sz="1200">
                <a:solidFill>
                  <a:srgbClr val="CDD2DC"/>
                </a:solidFill>
              </a:defRPr>
            </a:pPr>
            <a:r>
              <a:t>Technical Trainer, Department of CSE</a:t>
            </a:r>
            <a:br/>
            <a:r>
              <a:t>Chitkara University Institute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4846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EA6FF"/>
                </a:solidFill>
              </a:defRPr>
            </a:pPr>
            <a:r>
              <a:t>Submitted By (Group G-15):</a:t>
            </a:r>
          </a:p>
          <a:p>
            <a:pPr>
              <a:spcAft>
                <a:spcPts val="400"/>
              </a:spcAft>
              <a:defRPr sz="1250" b="1">
                <a:solidFill>
                  <a:srgbClr val="FFFFFF"/>
                </a:solidFill>
              </a:defRPr>
            </a:pPr>
            <a:r>
              <a:t>Kanav Chadha — Roll No: 2510990649 (G-15)</a:t>
            </a:r>
          </a:p>
          <a:p>
            <a:pPr>
              <a:spcAft>
                <a:spcPts val="400"/>
              </a:spcAft>
              <a:defRPr sz="1250" b="1">
                <a:solidFill>
                  <a:srgbClr val="FFFFFF"/>
                </a:solidFill>
              </a:defRPr>
            </a:pPr>
            <a:r>
              <a:t>Kishan — Roll No: 2510991457 (G-15)</a:t>
            </a:r>
          </a:p>
          <a:p>
            <a:pPr>
              <a:spcAft>
                <a:spcPts val="400"/>
              </a:spcAft>
              <a:defRPr sz="1250" b="1">
                <a:solidFill>
                  <a:srgbClr val="FFFFFF"/>
                </a:solidFill>
              </a:defRPr>
            </a:pPr>
            <a:r>
              <a:t>Arsh Behl — Roll No: 2510991354 (G-15)</a:t>
            </a:r>
          </a:p>
          <a:p>
            <a:pPr>
              <a:spcAft>
                <a:spcPts val="400"/>
              </a:spcAft>
              <a:defRPr sz="1250" b="1">
                <a:solidFill>
                  <a:srgbClr val="FFFFFF"/>
                </a:solidFill>
              </a:defRPr>
            </a:pPr>
            <a:r>
              <a:t>Soumajit Majee — Roll No: 2510990383 (G-15)</a:t>
            </a:r>
          </a:p>
        </p:txBody>
      </p:sp>
    </p:spTree>
  </p:cSld>
  <p:clrMapOvr>
    <a:masterClrMapping/>
  </p:clrMapOvr>
  <p:transition spd="fast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Table of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00" b="1">
                <a:solidFill>
                  <a:srgbClr val="FF0033"/>
                </a:solidFill>
              </a:rPr>
              <a:t>01. </a:t>
            </a:r>
            <a:r>
              <a:rPr sz="1200" b="1">
                <a:solidFill>
                  <a:srgbClr val="FFFFFF"/>
                </a:solidFill>
              </a:rPr>
              <a:t>Evaluation-II Vision &amp; Milestone Objectives (Page 03)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3EA6FF"/>
                </a:solidFill>
              </a:rPr>
              <a:t>02. </a:t>
            </a:r>
            <a:r>
              <a:rPr sz="1200" b="1">
                <a:solidFill>
                  <a:srgbClr val="FFFFFF"/>
                </a:solidFill>
              </a:rPr>
              <a:t>Syllabus-Aligned Technology Stack &amp; Architecture (Page 04)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F0033"/>
                </a:solidFill>
              </a:rPr>
              <a:t>03. </a:t>
            </a:r>
            <a:r>
              <a:rPr sz="1200" b="1">
                <a:solidFill>
                  <a:srgbClr val="FFFFFF"/>
                </a:solidFill>
              </a:rPr>
              <a:t>Core Component Architecture &amp; Modularity (Page 05)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3EA6FF"/>
                </a:solidFill>
              </a:rPr>
              <a:t>04. </a:t>
            </a:r>
            <a:r>
              <a:rPr sz="1200" b="1">
                <a:solidFill>
                  <a:srgbClr val="FFFFFF"/>
                </a:solidFill>
              </a:rPr>
              <a:t>In-Site Video Streaming Engine (No Redirecting) (Page 06)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F0033"/>
                </a:solidFill>
              </a:rPr>
              <a:t>05. </a:t>
            </a:r>
            <a:r>
              <a:rPr sz="1200" b="1">
                <a:solidFill>
                  <a:srgbClr val="FFFFFF"/>
                </a:solidFill>
              </a:rPr>
              <a:t>Interactive Comments System with useRef &amp; Speech API (Page 07)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5544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00" b="1">
                <a:solidFill>
                  <a:srgbClr val="FF0033"/>
                </a:solidFill>
              </a:rPr>
              <a:t>06. </a:t>
            </a:r>
            <a:r>
              <a:rPr sz="1200" b="1">
                <a:solidFill>
                  <a:srgbClr val="FFFFFF"/>
                </a:solidFill>
              </a:rPr>
              <a:t>Protected Routing &amp; Auth Guard Architecture (Page 08)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3EA6FF"/>
                </a:solidFill>
              </a:rPr>
              <a:t>07. </a:t>
            </a:r>
            <a:r>
              <a:rPr sz="1200" b="1">
                <a:solidFill>
                  <a:srgbClr val="FFFFFF"/>
                </a:solidFill>
              </a:rPr>
              <a:t>Infinite Scroll Feed &amp; YouTube Data API v3 (Page 09)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F0033"/>
                </a:solidFill>
              </a:rPr>
              <a:t>08. </a:t>
            </a:r>
            <a:r>
              <a:rPr sz="1200" b="1">
                <a:solidFill>
                  <a:srgbClr val="FFFFFF"/>
                </a:solidFill>
              </a:rPr>
              <a:t>Real YouTube Settings Panel (Theme, Autoplay, HD) (Page 10)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3EA6FF"/>
                </a:solidFill>
              </a:rPr>
              <a:t>09. </a:t>
            </a:r>
            <a:r>
              <a:rPr sz="1200" b="1">
                <a:solidFill>
                  <a:srgbClr val="FFFFFF"/>
                </a:solidFill>
              </a:rPr>
              <a:t>Multi-Device Responsive Design &amp; Modern UI/UX (Page 11)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F0033"/>
                </a:solidFill>
              </a:rPr>
              <a:t>10. </a:t>
            </a:r>
            <a:r>
              <a:rPr sz="1200" b="1">
                <a:solidFill>
                  <a:srgbClr val="FFFFFF"/>
                </a:solidFill>
              </a:rPr>
              <a:t>Summary, Live Demonstration &amp; Viva Readiness (Page 12)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Evaluation-II Vision &amp; Milestone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3832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29809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F0033"/>
                </a:solidFill>
              </a:defRPr>
            </a:pPr>
            <a:r>
              <a:t>Phase 1 vs Phase 2 Focus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Phase 1 Foundation: </a:t>
            </a:r>
            <a:r>
              <a:rPr sz="1150">
                <a:solidFill>
                  <a:srgbClr val="CDD2DC"/>
                </a:solidFill>
              </a:rPr>
              <a:t>Established responsive video card grids, category chips, and external links.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Phase 2 Transition: </a:t>
            </a:r>
            <a:r>
              <a:rPr sz="1150">
                <a:solidFill>
                  <a:srgbClr val="CDD2DC"/>
                </a:solidFill>
              </a:rPr>
              <a:t>Elevated PheW TuBe into an authentic, stateful Single Page Application (SPA).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Zero Page Reloads: </a:t>
            </a:r>
            <a:r>
              <a:rPr sz="1150">
                <a:solidFill>
                  <a:srgbClr val="CDD2DC"/>
                </a:solidFill>
              </a:rPr>
              <a:t>Client-side routing via React Router DOM ensures instant state reactivity without full flushes.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3750" y="1325880"/>
            <a:ext cx="33832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4918" y="1490472"/>
            <a:ext cx="29809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EA6FF"/>
                </a:solidFill>
              </a:defRPr>
            </a:pPr>
            <a:r>
              <a:t>Core Technical Objectives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In-Site Streaming: </a:t>
            </a:r>
            <a:r>
              <a:rPr sz="1150">
                <a:solidFill>
                  <a:srgbClr val="CDD2DC"/>
                </a:solidFill>
              </a:rPr>
              <a:t>Deep link /watch/:id powered by useParams() with embedded 16:9 streaming.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DOM Control via useRef: </a:t>
            </a:r>
            <a:r>
              <a:rPr sz="1150">
                <a:solidFill>
                  <a:srgbClr val="CDD2DC"/>
                </a:solidFill>
              </a:rPr>
              <a:t>Direct focus on comment inputs and auto-scroll control without synthetic re-renders.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Global Context API: </a:t>
            </a:r>
            <a:r>
              <a:rPr sz="1150">
                <a:solidFill>
                  <a:srgbClr val="CDD2DC"/>
                </a:solidFill>
              </a:rPr>
              <a:t>Centralized multi-state bus eliminating prop drilling across nested component trees.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895" y="1325880"/>
            <a:ext cx="33832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8063" y="1490472"/>
            <a:ext cx="29809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2BA640"/>
                </a:solidFill>
              </a:defRPr>
            </a:pPr>
            <a:r>
              <a:t>User Experience &amp; Realism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Up-Next Queue: </a:t>
            </a:r>
            <a:r>
              <a:rPr sz="1150">
                <a:solidFill>
                  <a:srgbClr val="CDD2DC"/>
                </a:solidFill>
              </a:rPr>
              <a:t>Dynamic video swapping via useNavigate() with synchronized channel metadata.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Working Action Controls: </a:t>
            </a:r>
            <a:r>
              <a:rPr sz="1150">
                <a:solidFill>
                  <a:srgbClr val="CDD2DC"/>
                </a:solidFill>
              </a:rPr>
              <a:t>Real Like increments, Share link copier, and Watch Later bookmarking.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Responsive Parity: </a:t>
            </a:r>
            <a:r>
              <a:rPr sz="1150">
                <a:solidFill>
                  <a:srgbClr val="CDD2DC"/>
                </a:solidFill>
              </a:rPr>
              <a:t>Fluid scaling across 375px mobile, 768px/1024px tablet, and 1440px desktop screens.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Syllabus-Aligned Technology Stack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3EA6FF"/>
                </a:solidFill>
              </a:defRPr>
            </a:pPr>
            <a:r>
              <a:t>React 18 (Core SPA Engine)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Declarative UI components.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Virtual DOM fiber reconciliation.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Concurrent state batching.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FFFFF"/>
                </a:solidFill>
              </a:rPr>
              <a:t>• Hooks: </a:t>
            </a:r>
            <a:r>
              <a:rPr sz="1050">
                <a:solidFill>
                  <a:srgbClr val="CDD2DC"/>
                </a:solidFill>
              </a:rPr>
              <a:t>useState, useEffect, useRef.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FF0033"/>
                </a:solidFill>
              </a:defRPr>
            </a:pPr>
            <a:r>
              <a:t>React Router v6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Client-side routing engine.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Dynamic URL parameters (/watch/:id).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Declarative &lt;ProtectedRoute /&gt; security.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Seamless useNavigate() transitions.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25880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90472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3EA6FF"/>
                </a:solidFill>
              </a:defRPr>
            </a:pPr>
            <a:r>
              <a:t>Tailwind CSS 3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Utility-first responsive framework.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Dark/Light theme CSS variables.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Custom micro-interactions &amp; pulse.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Strict YouTube aesthetics alignment.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13631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BA640"/>
                </a:solidFill>
              </a:defRPr>
            </a:pPr>
            <a:r>
              <a:t>Context API &amp; LocalStorage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Centralized global AppContext bus.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Syncs Likes, Playlists, &amp; Watch Later.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Persistent auth token storage.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Optimistic UI state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749039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1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A855F7"/>
                </a:solidFill>
              </a:defRPr>
            </a:pPr>
            <a:r>
              <a:t>YouTube Data API v3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RESTful Google Cloud API integration.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Dynamic live search &amp; channel fetch.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Resilient offline mock fallback.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In-app toggle for custom API keys.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749039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3913631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3EA6FF"/>
                </a:solidFill>
              </a:defRPr>
            </a:pPr>
            <a:r>
              <a:t>Vite 5 (Build Tool)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Lightning-fast Hot Module Replacement.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Native ES Module development server.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Sub-1.2s production Rollup bundling.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Zero-config optimized asset pipeline.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Core Component Architecture &amp; Modularity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FF0033"/>
                </a:solidFill>
              </a:defRPr>
            </a:pPr>
            <a:r>
              <a:t>Navbar.jsx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Search bar with live autocomplete.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Native Web Speech API mic pulse.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Theme switcher &amp; User avatar menu.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Collapsible hamburger drawer toggle.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3EA6FF"/>
                </a:solidFill>
              </a:defRPr>
            </a:pPr>
            <a:r>
              <a:t>Sidebar.jsx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FFFFF"/>
                </a:solidFill>
              </a:rPr>
              <a:t>• Main routes: </a:t>
            </a:r>
            <a:r>
              <a:rPr sz="1050">
                <a:solidFill>
                  <a:srgbClr val="CDD2DC"/>
                </a:solidFill>
              </a:rPr>
              <a:t>Home, Shorts, Subscriptions.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FFFFF"/>
                </a:solidFill>
              </a:rPr>
              <a:t>• Protected: </a:t>
            </a:r>
            <a:r>
              <a:rPr sz="1050">
                <a:solidFill>
                  <a:srgbClr val="CDD2DC"/>
                </a:solidFill>
              </a:rPr>
              <a:t>History, Playlists, Liked.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Subscribed channels live indicators.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Responsive collapsed mini-rail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25880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90472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BA640"/>
                </a:solidFill>
              </a:defRPr>
            </a:pPr>
            <a:r>
              <a:t>VideoCard.jsx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16:9 thumbnail with timestamp badge.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Channel avatar &amp; verified checkmark.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Hover scale micro-interactions.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Integrated infinite scroll pagination.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13631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A855F7"/>
                </a:solidFill>
              </a:defRPr>
            </a:pPr>
            <a:r>
              <a:t>WatchPage.jsx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100% In-Site Video Player (No Redirects).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FFFFF"/>
                </a:solidFill>
              </a:rPr>
              <a:t>• Action controls: </a:t>
            </a:r>
            <a:r>
              <a:rPr sz="1050">
                <a:solidFill>
                  <a:srgbClr val="CDD2DC"/>
                </a:solidFill>
              </a:rPr>
              <a:t>Like, Share, Save.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Dynamic Subscribe button &amp; counter.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Real-time useRef comment thread.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749039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1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FF0033"/>
                </a:solidFill>
              </a:defRPr>
            </a:pPr>
            <a:r>
              <a:t>AuthModal.jsx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Tabbed interface (Sign In &amp; Sign Up).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Client-side credentials validation.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Automatic guest login on registration.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Session persistence via LocalStorage.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749039"/>
            <a:ext cx="3429000" cy="224028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3913631"/>
            <a:ext cx="3026664" cy="1911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3EA6FF"/>
                </a:solidFill>
              </a:defRPr>
            </a:pPr>
            <a:r>
              <a:t>SettingsModal.jsx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Genuine YouTube settings interface.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Display Theme (Dark/Light Mode).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Autoplay &amp; HD 1080p stream toggles.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CDD2DC"/>
                </a:solidFill>
              </a:rPr>
              <a:t>• YouTube Data API v3 live key manager.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In-Site Video Streaming Engine (/watch/:id) — No Redirecting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30352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at_watch_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029200" cy="31432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9263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0033"/>
                </a:solidFill>
              </a:defRPr>
            </a:pPr>
            <a:r>
              <a:t>In-Site Streaming &amp; Action Controls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100% In-Site Video Playback: </a:t>
            </a:r>
            <a:r>
              <a:rPr sz="1100">
                <a:solidFill>
                  <a:srgbClr val="CDD2DC"/>
                </a:solidFill>
              </a:rPr>
              <a:t>Media streams directly inside PheW TuBe on the /watch/:id route with zero external redirects to YouTube.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Working Interactive Controls: </a:t>
            </a:r>
            <a:r>
              <a:rPr sz="1100">
                <a:solidFill>
                  <a:srgbClr val="CDD2DC"/>
                </a:solidFill>
              </a:rPr>
              <a:t>Functional Like counter with active state highlighting, Share link copier, and Watch Later bookmarking.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Channel Subscription Engine: </a:t>
            </a:r>
            <a:r>
              <a:rPr sz="1100">
                <a:solidFill>
                  <a:srgbClr val="CDD2DC"/>
                </a:solidFill>
              </a:rPr>
              <a:t>One-click Subscribe / Unsubscribe toggle dynamically synchronizing channel subscriber counts.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Up-Next Recommendation Sidebar: </a:t>
            </a:r>
            <a:r>
              <a:rPr sz="1100">
                <a:solidFill>
                  <a:srgbClr val="CDD2DC"/>
                </a:solidFill>
              </a:rPr>
              <a:t>Seamless client-side navigation dynamically loading next video without tearing down DOM.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Full Video Metadata: </a:t>
            </a:r>
            <a:r>
              <a:rPr sz="1100">
                <a:solidFill>
                  <a:srgbClr val="CDD2DC"/>
                </a:solidFill>
              </a:rPr>
              <a:t>Comprehensive description drawer with tags, view counts, and publication timestamps.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Interactive Comments with useRef &amp; Voice Search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30352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search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029200" cy="470120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9263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EA6FF"/>
                </a:solidFill>
              </a:defRPr>
            </a:pPr>
            <a:r>
              <a:t>Comments Thread &amp; Speech API Specs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Native Web Speech API Mic: </a:t>
            </a:r>
            <a:r>
              <a:rPr sz="1100">
                <a:solidFill>
                  <a:srgbClr val="CDD2DC"/>
                </a:solidFill>
              </a:rPr>
              <a:t>Hands-free voice recognition with an animated listening pulse overlay and auto query search.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DOM Control via useRef: </a:t>
            </a:r>
            <a:r>
              <a:rPr sz="1100">
                <a:solidFill>
                  <a:srgbClr val="CDD2DC"/>
                </a:solidFill>
              </a:rPr>
              <a:t>Direct programmatic input focus when user engages with comments, eliminating synthetic re-renders.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Real-Time Discussion Thread: </a:t>
            </a:r>
            <a:r>
              <a:rPr sz="1100">
                <a:solidFill>
                  <a:srgbClr val="CDD2DC"/>
                </a:solidFill>
              </a:rPr>
              <a:t>Allows posting instant user comments with dynamic avatar attachment and optimistic UI commits.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Sorting &amp; Filtering Engine: </a:t>
            </a:r>
            <a:r>
              <a:rPr sz="1100">
                <a:solidFill>
                  <a:srgbClr val="CDD2DC"/>
                </a:solidFill>
              </a:rPr>
              <a:t>Interactive sort dropdown toggling between 'Top Comments' and 'Newest First'.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Comment Engagement Metrics: </a:t>
            </a:r>
            <a:r>
              <a:rPr sz="1100">
                <a:solidFill>
                  <a:srgbClr val="CDD2DC"/>
                </a:solidFill>
              </a:rPr>
              <a:t>Independent like counter and interactive reply toggles per discussion node.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Protected Routing &amp; Guest Authentication Gatekeeper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30352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auth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08760"/>
            <a:ext cx="4206240" cy="372090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9263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0033"/>
                </a:solidFill>
              </a:defRPr>
            </a:pPr>
            <a:r>
              <a:t>Protected Routing &amp; Session Specs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Dedicated Auth Modal: </a:t>
            </a:r>
            <a:r>
              <a:rPr sz="1100">
                <a:solidFill>
                  <a:srgbClr val="CDD2DC"/>
                </a:solidFill>
              </a:rPr>
              <a:t>Tabbed modal interface supporting both Sign In and Sign Up with live form validation.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Strict Protected Route Gatekeeper: </a:t>
            </a:r>
            <a:r>
              <a:rPr sz="1100">
                <a:solidFill>
                  <a:srgbClr val="CDD2DC"/>
                </a:solidFill>
              </a:rPr>
              <a:t>Subscriptions, Playlists, Liked Videos, and History remain locked for unauthenticated guests.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Non-Disruptive Interception: </a:t>
            </a:r>
            <a:r>
              <a:rPr sz="1100">
                <a:solidFill>
                  <a:srgbClr val="CDD2DC"/>
                </a:solidFill>
              </a:rPr>
              <a:t>Clicking locked features displays an informative gatekeeper screen prompting Sign In.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Automatic Session Hydration: </a:t>
            </a:r>
            <a:r>
              <a:rPr sz="1100">
                <a:solidFill>
                  <a:srgbClr val="CDD2DC"/>
                </a:solidFill>
              </a:rPr>
              <a:t>Successfully registering or signing in instantly authenticates the user without losing current route.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Session Persistence: </a:t>
            </a:r>
            <a:r>
              <a:rPr sz="1100">
                <a:solidFill>
                  <a:srgbClr val="CDD2DC"/>
                </a:solidFill>
              </a:rPr>
              <a:t>Stores encrypted session state in LocalStorage, preserving login across browser reloads.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Real YouTube Settings Panel &amp; Playback Preferences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30352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settings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17320"/>
            <a:ext cx="3106522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9263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BA640"/>
                </a:solidFill>
              </a:defRPr>
            </a:pPr>
            <a:r>
              <a:t>Settings Architecture &amp; Controls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Authentic YouTube Settings UI: </a:t>
            </a:r>
            <a:r>
              <a:rPr sz="1100">
                <a:solidFill>
                  <a:srgbClr val="CDD2DC"/>
                </a:solidFill>
              </a:rPr>
              <a:t>Replicates genuine YouTube preferences dialog with backdrop blur and smooth exit.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Display Theme Engine: </a:t>
            </a:r>
            <a:r>
              <a:rPr sz="1100">
                <a:solidFill>
                  <a:srgbClr val="CDD2DC"/>
                </a:solidFill>
              </a:rPr>
              <a:t>Instant toggle between Dark Mode and Light Mode with CSS variables updating all UI elements.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Autoplay Next Video: </a:t>
            </a:r>
            <a:r>
              <a:rPr sz="1100">
                <a:solidFill>
                  <a:srgbClr val="CDD2DC"/>
                </a:solidFill>
              </a:rPr>
              <a:t>Automated continuous playback queue seamlessly transitioning to next video upon finish.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HD 1080p Stream Quality: </a:t>
            </a:r>
            <a:r>
              <a:rPr sz="1100">
                <a:solidFill>
                  <a:srgbClr val="CDD2DC"/>
                </a:solidFill>
              </a:rPr>
              <a:t>High-bitrate default stream resolution preference enforcement.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</a:rPr>
              <a:t>• Storage &amp; Cache Controls: </a:t>
            </a:r>
            <a:r>
              <a:rPr sz="1100">
                <a:solidFill>
                  <a:srgbClr val="CDD2DC"/>
                </a:solidFill>
              </a:rPr>
              <a:t>Dedicated 'Clear Watch History' and 'Reset All App Storage' buttons for evaluation testing.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Infinite Scroll Feed &amp; YouTube Data API v3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EA6FF"/>
                </a:solidFill>
              </a:defRPr>
            </a:pPr>
            <a:r>
              <a:t>Infinite Scroll Feed Pagination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react-infinite-scroll-component: </a:t>
            </a:r>
            <a:r>
              <a:rPr sz="1150">
                <a:solidFill>
                  <a:srgbClr val="CDD2DC"/>
                </a:solidFill>
              </a:rPr>
              <a:t>Continuous feed pagination dynamically fetching video batches as user scrolls down.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Zero Churn Reconciliation: </a:t>
            </a:r>
            <a:r>
              <a:rPr sz="1150">
                <a:solidFill>
                  <a:srgbClr val="CDD2DC"/>
                </a:solidFill>
              </a:rPr>
              <a:t>Slicing and appending next batches isolates new cards without re-rendering existing items.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Scroll Trigger Geometry: </a:t>
            </a:r>
            <a:r>
              <a:rPr sz="1150">
                <a:solidFill>
                  <a:srgbClr val="CDD2DC"/>
                </a:solidFill>
              </a:rPr>
              <a:t>Viewport intersection thresholds trigger data fetching before reaching bottom of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9263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A855F7"/>
                </a:solidFill>
              </a:defRPr>
            </a:pPr>
            <a:r>
              <a:t>YouTube Data API v3 Live Integration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Google Cloud YouTube API v3: </a:t>
            </a:r>
            <a:r>
              <a:rPr sz="1150">
                <a:solidFill>
                  <a:srgbClr val="CDD2DC"/>
                </a:solidFill>
              </a:rPr>
              <a:t>Direct RESTful integration querying live YouTube video metadata, thumbnails, and views.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Live Key Manager: </a:t>
            </a:r>
            <a:r>
              <a:rPr sz="1150">
                <a:solidFill>
                  <a:srgbClr val="CDD2DC"/>
                </a:solidFill>
              </a:rPr>
              <a:t>In-app settings switch allows entering custom Google Cloud API key to toggle live YouTube data.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Resilient Offline Fallback: </a:t>
            </a:r>
            <a:r>
              <a:rPr sz="1150">
                <a:solidFill>
                  <a:srgbClr val="CDD2DC"/>
                </a:solidFill>
              </a:rPr>
              <a:t>Gracefully falls back to high-fidelity curated mock dataset (youtubeData.js) on quota exhaustion.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Multi-Device Responsive Design &amp; Modern UI/UX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EA6FF"/>
                </a:solidFill>
              </a:defRPr>
            </a:pPr>
            <a:r>
              <a:t>Viewport Adaptations &amp; Layout Hierarchy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Desktop (1440px+): </a:t>
            </a:r>
            <a:r>
              <a:rPr sz="1150">
                <a:solidFill>
                  <a:srgbClr val="CDD2DC"/>
                </a:solidFill>
              </a:rPr>
              <a:t>Full widescreen layout with expanded 240px sidebar, 4-column video feed, and watch player with up-next rail.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Tablet / iPad Mini (1024px &amp; 768px): </a:t>
            </a:r>
            <a:r>
              <a:rPr sz="1150">
                <a:solidFill>
                  <a:srgbClr val="CDD2DC"/>
                </a:solidFill>
              </a:rPr>
              <a:t>Compact collapsed mini-rail sidebar with 2-3 column responsive video card grid.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Mobile (375px - 480px): </a:t>
            </a:r>
            <a:r>
              <a:rPr sz="1150">
                <a:solidFill>
                  <a:srgbClr val="CDD2DC"/>
                </a:solidFill>
              </a:rPr>
              <a:t>Single-column video stream with bottom drawer navigation and touch-optimized action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9263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2BA640"/>
                </a:solidFill>
              </a:defRPr>
            </a:pPr>
            <a:r>
              <a:t>Design Systems &amp; Visual Feedback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Tailwind Fluid Breakpoints: </a:t>
            </a:r>
            <a:r>
              <a:rPr sz="1150">
                <a:solidFill>
                  <a:srgbClr val="CDD2DC"/>
                </a:solidFill>
              </a:rPr>
              <a:t>Standardized responsive classes (sm, md, lg, xl) ensuring zero horizontal scrollbars.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Glassmorphic Modals: </a:t>
            </a:r>
            <a:r>
              <a:rPr sz="1150">
                <a:solidFill>
                  <a:srgbClr val="CDD2DC"/>
                </a:solidFill>
              </a:rPr>
              <a:t>High-z-index overlays with backdrop-filter: blur(8px) for Auth and Settings modals.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Micro-Interactions: </a:t>
            </a:r>
            <a:r>
              <a:rPr sz="1150">
                <a:solidFill>
                  <a:srgbClr val="CDD2DC"/>
                </a:solidFill>
              </a:rPr>
              <a:t>Active scale animations, soundwave mic pulse, and hover elevations across all interactive cards.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54864"/>
          </a:xfrm>
          <a:prstGeom prst="rect">
            <a:avLst/>
          </a:prstGeom>
          <a:solidFill>
            <a:srgbClr val="FF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A6FF"/>
                </a:solidFill>
              </a:defRPr>
            </a:pPr>
            <a:r>
              <a:t>GROUP G15  •  PROJECT ID: G15-PID-17 (P-17)  •  EVALUATION-II (PHASE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Summary, Live Demonstration &amp; Viva Voce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94A5"/>
                </a:solidFill>
              </a:defRPr>
            </a:pPr>
            <a:r>
              <a:t>PheW TuBe: Video Streaming Platform (G15-PID-17)  |  Chitkara University FEE-II  |  Page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F0033"/>
                </a:solidFill>
              </a:defRPr>
            </a:pPr>
            <a:r>
              <a:t>Viva Defense &amp; 1-Minute Pitch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Viva Title Justification: </a:t>
            </a:r>
            <a:r>
              <a:rPr sz="1150">
                <a:solidFill>
                  <a:srgbClr val="CDD2DC"/>
                </a:solidFill>
              </a:rPr>
              <a:t>PheW TuBe represents an ad-free, high-speed streaming platform with 100% in-app media rendering.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Core Gap Solved: </a:t>
            </a:r>
            <a:r>
              <a:rPr sz="1150">
                <a:solidFill>
                  <a:srgbClr val="CDD2DC"/>
                </a:solidFill>
              </a:rPr>
              <a:t>Eliminates disruptive external site redirects, offers hands-free Web Speech API search, and provides full YouTube settings.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Target Users: </a:t>
            </a:r>
            <a:r>
              <a:rPr sz="1150">
                <a:solidFill>
                  <a:srgbClr val="CDD2DC"/>
                </a:solidFill>
              </a:rPr>
              <a:t>Students, programmers, and tech enthusiasts requiring distraction-free educational video viewing.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161922"/>
          </a:solidFill>
          <a:ln w="1651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9263" y="1490472"/>
            <a:ext cx="4809744" cy="433425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EA6FF"/>
                </a:solidFill>
              </a:defRPr>
            </a:pPr>
            <a:r>
              <a:t>Technical Merit &amp; Demonstration Roadmap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Key Engineering Highlight: </a:t>
            </a:r>
            <a:r>
              <a:rPr sz="1150">
                <a:solidFill>
                  <a:srgbClr val="CDD2DC"/>
                </a:solidFill>
              </a:rPr>
              <a:t>React 18 component composition + Context API eliminating full-tree re-renders.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Live Demonstration Flow: </a:t>
            </a:r>
            <a:r>
              <a:rPr sz="1150">
                <a:solidFill>
                  <a:srgbClr val="CDD2DC"/>
                </a:solidFill>
              </a:rPr>
              <a:t>1) Home feed &amp; Infinite Scroll -&gt; 2) Voice Search &amp; Filter -&gt; 3) In-Site Watch Player &amp; Likes -&gt; 4) Protected Route Lock -&gt; 5) Settings Modal.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FFFF"/>
                </a:solidFill>
              </a:rPr>
              <a:t>• Evaluation Status: </a:t>
            </a:r>
            <a:r>
              <a:rPr sz="1150">
                <a:solidFill>
                  <a:srgbClr val="CDD2DC"/>
                </a:solidFill>
              </a:rPr>
              <a:t>100% feature-complete, zero console errors, passing Vite production build in 1.16s.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E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l">
              <a:spcBef>
                <a:spcPts val="1200"/>
              </a:spcBef>
              <a:defRPr sz="1700" b="1">
                <a:solidFill>
                  <a:srgbClr val="FF0033"/>
                </a:solidFill>
              </a:defRPr>
            </a:pPr>
            <a:r>
              <a:t>PheW TuBe: High-Performance Video Streaming Platform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3EA6FF"/>
                </a:solidFill>
              </a:defRPr>
            </a:pPr>
            <a:r>
              <a:t>Department of Computer Science &amp; Engineering • Chitkara University, Punjab</a:t>
            </a:r>
          </a:p>
          <a:p>
            <a:pPr algn="l">
              <a:spcBef>
                <a:spcPts val="1400"/>
              </a:spcBef>
              <a:defRPr sz="1200" b="1">
                <a:solidFill>
                  <a:srgbClr val="CDD2DC"/>
                </a:solidFill>
              </a:defRPr>
            </a:pPr>
            <a:r>
              <a:t>GROUP G15 • PROJECT ID: G15-PID-17 • EVALUATION-II (PHASE 2)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