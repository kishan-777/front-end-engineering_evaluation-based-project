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nematic_d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57200"/>
            <a:ext cx="10728655" cy="24688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94360"/>
            <a:ext cx="103628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BBF24"/>
                </a:solidFill>
              </a:defRPr>
            </a:pPr>
            <a:r>
              <a:t>PheW TuBe — High-Performance Streaming Platform</a:t>
            </a:r>
          </a:p>
          <a:p>
            <a:pPr algn="ctr">
              <a:spcBef>
                <a:spcPts val="600"/>
              </a:spcBef>
              <a:defRPr sz="1300" b="1">
                <a:solidFill>
                  <a:srgbClr val="EF4444"/>
                </a:solidFill>
              </a:defRPr>
            </a:pPr>
            <a:r>
              <a:t>Front End Engineering - II (25CSE0203) — Project Based Evaluation-II (Phase 2)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38BDF8"/>
                </a:solidFill>
              </a:defRPr>
            </a:pPr>
            <a:r>
              <a:t>Department of Computer Science &amp; Engineering • Chitkara University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10728655" cy="320040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97316"/>
                </a:solidFill>
              </a:defRPr>
            </a:pPr>
            <a:r>
              <a:t>TEAM MEMBERS (GROUP G15 | PROJECT ID: G15-PID-17)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947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•   Kanav Chadha (Team Leader)   —   Roll No: 2510990649 (G-15)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•   Kishan   —   Roll No: 2510991457 (G-15)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•   Arsh Behl   —   Roll No: 2510991354 (G-15)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•   Soumajit Majee   —   Roll No: 2510990383 (G-15)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977639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 u="sng">
                <a:solidFill>
                  <a:srgbClr val="FFFFFF"/>
                </a:solidFill>
              </a:defRPr>
            </a:pPr>
            <a:r>
              <a:t>Submitted To:</a:t>
            </a:r>
          </a:p>
          <a:p>
            <a:pPr>
              <a:spcBef>
                <a:spcPts val="1000"/>
              </a:spcBef>
              <a:defRPr sz="1600" b="1">
                <a:solidFill>
                  <a:srgbClr val="FBBF24"/>
                </a:solidFill>
              </a:defRPr>
            </a:pPr>
            <a:r>
              <a:t>Mr. Shubham Kumar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nematic_d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411480"/>
            <a:ext cx="27432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2004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GROUP G15 • PROJECT ID: G15-PID-17 • FRONT END ENGINEERING - 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BBF24"/>
                </a:solidFill>
              </a:defRPr>
            </a:pPr>
            <a:r>
              <a:t>Project Vision &amp; Core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438912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63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01. The Problem &amp; Need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High buffering latency and intrusive third-party ads in conventional web portals.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Video viewing disruptions caused by unexpected external site redirects.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Lack of accessible voice search options for hands-free query navigation.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Cluttered interfaces without configurable playback settings (theme, autoplay, HD).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Unrestricted route access causing data contamination without active user sessions.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Need for a modular, high-speed streaming Single Page Application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783080"/>
            <a:ext cx="3429000" cy="438912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920240"/>
            <a:ext cx="3063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02. What We Built (Phase 2 Capabilities)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React 18 streaming platform with 100% in-site video playback (zero external redirecting).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Native Web Speech API voice search microphone with real-time soundwave pulse overlay.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Authentic YouTube settings panel: Dark/Light theme, Autoplay, HD 1080p, API live switch.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Protected Route Gatekeeper locking Subscriptions, Playlists, Liked, and History for guests.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Dynamic tabbed Auth Modal with instant credential validation and LocalStorage persistence.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Continuous Infinite Scroll feed with resilient YouTube Data API v3 live query fallback.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783080"/>
            <a:ext cx="3429000" cy="438912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3" y="1920240"/>
            <a:ext cx="3063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03. Key Engineering Objectives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Provide isolated, stutter-free in-app media rendering maintaining steady 60 FPS.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Enforce strict client-side session boundaries with declarative route guards.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Centralize global state across playlists, likes, and watch history via AppContext.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Build resilient hybrid data architecture combining Google YouTube API v3 and offline mocks.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Ensure fluid multi-device responsiveness across mobile, 1024px tablet, and wide desktop.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nematic_d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411480"/>
            <a:ext cx="27432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2004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GROUP G15 • PROJECT ID: G15-PID-17 • FRONT END ENGINEERING - 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BBF24"/>
                </a:solidFill>
              </a:defRPr>
            </a:pPr>
            <a:r>
              <a:t>Syllabus-Aligned Technology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39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React 18 (SPA Engine)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Declarative component-driven UI architecture.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Virtual DOM reconciliation &amp; Fiber concurrency.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Optimized state hooks (useState, useEffect, useRef).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Strict mode lifecycle validation &amp; fast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554480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691639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Vite 5 (Build Tool)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Lightning-fast Hot Module Replacement (HMR).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Native ES Module development server (1.16s build).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Optimized Rollup production bundler &amp; minification.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Zero-config ultra-fast development environment.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554480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47304" y="1691639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React Router v6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Client-side Single Page Application navigation.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Dynamic URL parameters (/watch/:id, /channel/:id).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Protected Route security wrapper (&lt;ProtectedRoute /&gt;).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Declarative Link and Navigate redirection components.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Centralized State Layer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Global AppContext provider at App.jsx application root.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Synchronizes Liked, Watch Later, and History states.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Persistent session &amp; theme storage in LocalStorage.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Optimistic UI updates for immediate interactive clicks.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3977639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114800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YouTube Data API v3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RESTful Google Cloud YouTube Data API integration.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Dynamic channel &amp; video query search engine.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Resilient offline curated mock dataset (youtubeData.js).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In-app settings switch to toggle live cloud API.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977639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4114800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Tailwind CSS &amp; Web APIs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Native Web Speech API for voice recognition.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react-infinite-scroll-component dynamic pagination.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Responsive grid (1024px iPad Mini &amp; Mobile layouts).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Glassmorphic modal containers &amp; animated pulse overlays.</a:t>
            </a:r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nematic_d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411480"/>
            <a:ext cx="27432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2004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GROUP G15 • PROJECT ID: G15-PID-17 • FRONT END ENGINEERING - 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BBF24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39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Navbar.jsx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Real-time search bar with autocomplete suggestions.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Native Web Speech API voice search mic trigger.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User avatar profile menu, theme switch &amp; notifications.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Hamburger button toggling collapsible responsive sidebar.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554480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691639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WatchPage.jsx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In-site video streaming player with zero redirecting.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Interactive action bar (Like, Dislike, Share, Watch Later).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Channel header with dynamic Subscribe counter.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Interactive comments thread with useRef autofocus.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554480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47304" y="1691639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AuthModal.jsx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Tabbed authentication modal (Sign In &amp; Sign Up).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Form validation checking existing registered profiles.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Automatic guest login upon successful account creation.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Session persistence storing active user in LocalStorage.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SettingsModal.jsx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Authentic YouTube settings panel modal interface.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Display Theme toggle (Dark Mode vs Light Mode).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Autoplay Next Video &amp; HD 1080p Stream toggles.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YouTube Data API v3 live API key manager &amp; sync.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3977639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114800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VideoCard.jsx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16:9 thumbnail display with duration timestamp badge.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Channel avatar, verified checkmark &amp; view metrics.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Hover elevation animation &amp; direct watch navigation.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Integrated into continuous infinite scroll feed grid.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977639"/>
            <a:ext cx="3429000" cy="224028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4114800"/>
            <a:ext cx="3154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</a:defRPr>
            </a:pPr>
            <a:r>
              <a:t>Sidebar.jsx &amp; ProtectedRoute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Primary navigation (Home, Shorts, Subscriptions).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Protected You section (History, Playlists, Liked).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Lock screen redirecting guests to AuthModal on click.</a:t>
            </a:r>
          </a:p>
          <a:p>
            <a:pPr>
              <a:spcBef>
                <a:spcPts val="300"/>
              </a:spcBef>
              <a:defRPr sz="880">
                <a:solidFill>
                  <a:srgbClr val="FEF3C7"/>
                </a:solidFill>
              </a:defRPr>
            </a:pPr>
            <a:r>
              <a:t>•  Fully responsive collapsible mobile drawer menu.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nematic_d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411480"/>
            <a:ext cx="27432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2004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GROUP G15 • PROJECT ID: G15-PID-17 • FRONT END ENGINEERING - 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BBF24"/>
                </a:solidFill>
              </a:defRPr>
            </a:pPr>
            <a:r>
              <a:t>Featured Content Catalog &amp; Streaming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2057400" cy="393192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_video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1874519" cy="11155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154680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React 18 Course</a:t>
            </a:r>
          </a:p>
          <a:p>
            <a:pPr algn="ctr">
              <a:spcBef>
                <a:spcPts val="300"/>
              </a:spcBef>
              <a:defRPr sz="1350" b="1">
                <a:solidFill>
                  <a:srgbClr val="F97316"/>
                </a:solidFill>
              </a:defRPr>
            </a:pPr>
            <a:r>
              <a:t>1.9M Views</a:t>
            </a:r>
          </a:p>
          <a:p>
            <a:pPr algn="ctr">
              <a:spcBef>
                <a:spcPts val="300"/>
              </a:spcBef>
              <a:defRPr sz="900" b="1">
                <a:solidFill>
                  <a:srgbClr val="34D399"/>
                </a:solidFill>
              </a:defRPr>
            </a:pPr>
            <a:r>
              <a:t>TECH • EDUCATION</a:t>
            </a:r>
          </a:p>
          <a:p>
            <a:pPr algn="ctr">
              <a:spcBef>
                <a:spcPts val="200"/>
              </a:spcBef>
              <a:defRPr sz="900" b="1">
                <a:solidFill>
                  <a:srgbClr val="38BDF8"/>
                </a:solidFill>
              </a:defRPr>
            </a:pPr>
            <a:r>
              <a:t>Chai aur Code</a:t>
            </a:r>
          </a:p>
          <a:p>
            <a:pPr algn="ctr">
              <a:spcBef>
                <a:spcPts val="400"/>
              </a:spcBef>
              <a:defRPr sz="880">
                <a:solidFill>
                  <a:srgbClr val="FEF3C7"/>
                </a:solidFill>
              </a:defRPr>
            </a:pPr>
            <a:r>
              <a:t>Complete React tutorial covering hooks, Fiber, and DOM.</a:t>
            </a:r>
          </a:p>
          <a:p>
            <a:pPr algn="ctr">
              <a:spcBef>
                <a:spcPts val="400"/>
              </a:spcBef>
              <a:defRPr sz="819" b="1">
                <a:solidFill>
                  <a:srgbClr val="FDE047"/>
                </a:solidFill>
              </a:defRPr>
            </a:pPr>
            <a:r>
              <a:t>Quality: 1080p HD • 8:32:05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74519"/>
            <a:ext cx="2057400" cy="393192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rop_video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1965960"/>
            <a:ext cx="1874519" cy="1115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71800" y="3154680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India's Got Latent</a:t>
            </a:r>
          </a:p>
          <a:p>
            <a:pPr algn="ctr">
              <a:spcBef>
                <a:spcPts val="300"/>
              </a:spcBef>
              <a:defRPr sz="1350" b="1">
                <a:solidFill>
                  <a:srgbClr val="F97316"/>
                </a:solidFill>
              </a:defRPr>
            </a:pPr>
            <a:r>
              <a:t>67M Views</a:t>
            </a:r>
          </a:p>
          <a:p>
            <a:pPr algn="ctr">
              <a:spcBef>
                <a:spcPts val="300"/>
              </a:spcBef>
              <a:defRPr sz="900" b="1">
                <a:solidFill>
                  <a:srgbClr val="34D399"/>
                </a:solidFill>
              </a:defRPr>
            </a:pPr>
            <a:r>
              <a:t>COMEDY • SPECIAL</a:t>
            </a:r>
          </a:p>
          <a:p>
            <a:pPr algn="ctr">
              <a:spcBef>
                <a:spcPts val="200"/>
              </a:spcBef>
              <a:defRPr sz="900" b="1">
                <a:solidFill>
                  <a:srgbClr val="38BDF8"/>
                </a:solidFill>
              </a:defRPr>
            </a:pPr>
            <a:r>
              <a:t>Samay Raina</a:t>
            </a:r>
          </a:p>
          <a:p>
            <a:pPr algn="ctr">
              <a:spcBef>
                <a:spcPts val="400"/>
              </a:spcBef>
              <a:defRPr sz="880">
                <a:solidFill>
                  <a:srgbClr val="FEF3C7"/>
                </a:solidFill>
              </a:defRPr>
            </a:pPr>
            <a:r>
              <a:t>Standup comedy panel featuring unfiltered roasts.</a:t>
            </a:r>
          </a:p>
          <a:p>
            <a:pPr algn="ctr">
              <a:spcBef>
                <a:spcPts val="400"/>
              </a:spcBef>
              <a:defRPr sz="819" b="1">
                <a:solidFill>
                  <a:srgbClr val="FDE047"/>
                </a:solidFill>
              </a:defRPr>
            </a:pPr>
            <a:r>
              <a:t>Quality: 1080p HD • 52:26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874519"/>
            <a:ext cx="2057400" cy="393192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rop_video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965960"/>
            <a:ext cx="1874519" cy="1115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6359" y="3154680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$250M Island</a:t>
            </a:r>
          </a:p>
          <a:p>
            <a:pPr algn="ctr">
              <a:spcBef>
                <a:spcPts val="300"/>
              </a:spcBef>
              <a:defRPr sz="1350" b="1">
                <a:solidFill>
                  <a:srgbClr val="F97316"/>
                </a:solidFill>
              </a:defRPr>
            </a:pPr>
            <a:r>
              <a:t>355M Views</a:t>
            </a:r>
          </a:p>
          <a:p>
            <a:pPr algn="ctr">
              <a:spcBef>
                <a:spcPts val="300"/>
              </a:spcBef>
              <a:defRPr sz="900" b="1">
                <a:solidFill>
                  <a:srgbClr val="34D399"/>
                </a:solidFill>
              </a:defRPr>
            </a:pPr>
            <a:r>
              <a:t>CHALLENGE • BEAST</a:t>
            </a:r>
          </a:p>
          <a:p>
            <a:pPr algn="ctr">
              <a:spcBef>
                <a:spcPts val="200"/>
              </a:spcBef>
              <a:defRPr sz="900" b="1">
                <a:solidFill>
                  <a:srgbClr val="38BDF8"/>
                </a:solidFill>
              </a:defRPr>
            </a:pPr>
            <a:r>
              <a:t>MrBeast</a:t>
            </a:r>
          </a:p>
          <a:p>
            <a:pPr algn="ctr">
              <a:spcBef>
                <a:spcPts val="400"/>
              </a:spcBef>
              <a:defRPr sz="880">
                <a:solidFill>
                  <a:srgbClr val="FEF3C7"/>
                </a:solidFill>
              </a:defRPr>
            </a:pPr>
            <a:r>
              <a:t>Surviving 7 days on the world's most expensive island.</a:t>
            </a:r>
          </a:p>
          <a:p>
            <a:pPr algn="ctr">
              <a:spcBef>
                <a:spcPts val="400"/>
              </a:spcBef>
              <a:defRPr sz="819" b="1">
                <a:solidFill>
                  <a:srgbClr val="FDE047"/>
                </a:solidFill>
              </a:defRPr>
            </a:pPr>
            <a:r>
              <a:t>Quality: 4K Ultra HD • 15:24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199" y="1874519"/>
            <a:ext cx="2057400" cy="393192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rop_video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965960"/>
            <a:ext cx="1874519" cy="1115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60919" y="3154680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DSA In-Depth</a:t>
            </a:r>
          </a:p>
          <a:p>
            <a:pPr algn="ctr">
              <a:spcBef>
                <a:spcPts val="300"/>
              </a:spcBef>
              <a:defRPr sz="1350" b="1">
                <a:solidFill>
                  <a:srgbClr val="F97316"/>
                </a:solidFill>
              </a:defRPr>
            </a:pPr>
            <a:r>
              <a:t>6.4M Views</a:t>
            </a:r>
          </a:p>
          <a:p>
            <a:pPr algn="ctr">
              <a:spcBef>
                <a:spcPts val="300"/>
              </a:spcBef>
              <a:defRPr sz="900" b="1">
                <a:solidFill>
                  <a:srgbClr val="34D399"/>
                </a:solidFill>
              </a:defRPr>
            </a:pPr>
            <a:r>
              <a:t>CODING • COURSE</a:t>
            </a:r>
          </a:p>
          <a:p>
            <a:pPr algn="ctr">
              <a:spcBef>
                <a:spcPts val="200"/>
              </a:spcBef>
              <a:defRPr sz="900" b="1">
                <a:solidFill>
                  <a:srgbClr val="38BDF8"/>
                </a:solidFill>
              </a:defRPr>
            </a:pPr>
            <a:r>
              <a:t>freeCodeCamp</a:t>
            </a:r>
          </a:p>
          <a:p>
            <a:pPr algn="ctr">
              <a:spcBef>
                <a:spcPts val="400"/>
              </a:spcBef>
              <a:defRPr sz="880">
                <a:solidFill>
                  <a:srgbClr val="FEF3C7"/>
                </a:solidFill>
              </a:defRPr>
            </a:pPr>
            <a:r>
              <a:t>Algorithms &amp; data structures complete curriculum.</a:t>
            </a:r>
          </a:p>
          <a:p>
            <a:pPr algn="ctr">
              <a:spcBef>
                <a:spcPts val="400"/>
              </a:spcBef>
              <a:defRPr sz="819" b="1">
                <a:solidFill>
                  <a:srgbClr val="FDE047"/>
                </a:solidFill>
              </a:defRPr>
            </a:pPr>
            <a:r>
              <a:t>Quality: 1080p HD • 5:22:09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1874519"/>
            <a:ext cx="2057400" cy="393192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rop_video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1965960"/>
            <a:ext cx="1874519" cy="11155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555480" y="3154680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GTA V Stunts</a:t>
            </a:r>
          </a:p>
          <a:p>
            <a:pPr algn="ctr">
              <a:spcBef>
                <a:spcPts val="300"/>
              </a:spcBef>
              <a:defRPr sz="1350" b="1">
                <a:solidFill>
                  <a:srgbClr val="F97316"/>
                </a:solidFill>
              </a:defRPr>
            </a:pPr>
            <a:r>
              <a:t>12M Views</a:t>
            </a:r>
          </a:p>
          <a:p>
            <a:pPr algn="ctr">
              <a:spcBef>
                <a:spcPts val="300"/>
              </a:spcBef>
              <a:defRPr sz="900" b="1">
                <a:solidFill>
                  <a:srgbClr val="34D399"/>
                </a:solidFill>
              </a:defRPr>
            </a:pPr>
            <a:r>
              <a:t>GAMING • POPULAR</a:t>
            </a:r>
          </a:p>
          <a:p>
            <a:pPr algn="ctr">
              <a:spcBef>
                <a:spcPts val="200"/>
              </a:spcBef>
              <a:defRPr sz="900" b="1">
                <a:solidFill>
                  <a:srgbClr val="38BDF8"/>
                </a:solidFill>
              </a:defRPr>
            </a:pPr>
            <a:r>
              <a:t>Techno Gamerz</a:t>
            </a:r>
          </a:p>
          <a:p>
            <a:pPr algn="ctr">
              <a:spcBef>
                <a:spcPts val="400"/>
              </a:spcBef>
              <a:defRPr sz="880">
                <a:solidFill>
                  <a:srgbClr val="FEF3C7"/>
                </a:solidFill>
              </a:defRPr>
            </a:pPr>
            <a:r>
              <a:t>Insane mega ramp stunts across the GTA V map.</a:t>
            </a:r>
          </a:p>
          <a:p>
            <a:pPr algn="ctr">
              <a:spcBef>
                <a:spcPts val="400"/>
              </a:spcBef>
              <a:defRPr sz="819" b="1">
                <a:solidFill>
                  <a:srgbClr val="FDE047"/>
                </a:solidFill>
              </a:defRPr>
            </a:pPr>
            <a:r>
              <a:t>Quality: 1080p HD • 14:18</a:t>
            </a:r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nematic_d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411480"/>
            <a:ext cx="27432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2004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GROUP G15 • PROJECT ID: G15-PID-17 • FRONT END ENGINEERING - 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BBF24"/>
                </a:solidFill>
              </a:defRPr>
            </a:pPr>
            <a:r>
              <a:t>Guest Authentication &amp; Protected Routing Gatekeeper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25196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_auth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920240"/>
            <a:ext cx="4297680" cy="380179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783080"/>
            <a:ext cx="5333695" cy="425196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920240"/>
            <a:ext cx="4967935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Authentication &amp; Protected Route Architecture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Dedicated Auth Modal: Tabbed interface switching between Sign In and Sign Up with username and password validation.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Strict Protected Route Gatekeeper: Subscriptions, Playlists, Liked Videos, and History remain strictly locked until authenticated.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Seamless Guest Onboarding: Attempting to access protected sections triggers Auth Modal without unmounting background player.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Duplicate &amp; Credentials Validation: Prevents duplicate usernames during sign up and prompts immediate sign in for existing users.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Persistent Session Architecture: Stores active user session in LocalStorage, preserving authentication across page reloads.</a:t>
            </a:r>
          </a:p>
        </p:txBody>
      </p:sp>
    </p:spTree>
  </p:cSld>
  <p:clrMapOvr>
    <a:masterClrMapping/>
  </p:clrMapOvr>
  <p:transition spd="med">
    <p:split dir="out" orient="horz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nematic_d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411480"/>
            <a:ext cx="27432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2004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GROUP G15 • PROJECT ID: G15-PID-17 • FRONT END ENGINEERING - 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BBF24"/>
                </a:solidFill>
              </a:defRPr>
            </a:pPr>
            <a:r>
              <a:t>In-Site Video Player (No Redirecting) &amp; Action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25196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eat_watch_p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11680"/>
            <a:ext cx="4937760" cy="30861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783080"/>
            <a:ext cx="5333695" cy="425196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920240"/>
            <a:ext cx="4967935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In-Site Streaming &amp; Interactive Controls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100% In-Site Video Playback: Videos stream directly on the /watch/:id route inside PheW TuBe with zero external redirects.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Native Web Speech API Mic: Hands-free voice recognition with glowing soundwave pulse overlay and auto query search.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Working Interactive Buttons: Functional Like toggle with counter increments, Share link copier, and Watch Later bookmarking.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Channel Subscription Engine: Dynamic Subscribe/Subscribed toggle with subscriber count state synchronization.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Real-Time Comment Discussion: Allows posting new comments with useRef auto-focus, timestamp sorting, and avatar updates.</a:t>
            </a:r>
          </a:p>
        </p:txBody>
      </p:sp>
    </p:spTree>
  </p:cSld>
  <p:clrMapOvr>
    <a:masterClrMapping/>
  </p:clrMapOvr>
  <p:transition spd="med">
    <p:wipe dir="u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nematic_d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411480"/>
            <a:ext cx="27432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2004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GROUP G15 • PROJECT ID: G15-PID-17 • FRONT END ENGINEERING - 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BBF24"/>
                </a:solidFill>
              </a:defRPr>
            </a:pPr>
            <a:r>
              <a:t>Real YouTube Settings Panel &amp; Infinite Scroll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25196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_settings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1874519"/>
            <a:ext cx="2821229" cy="4069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783080"/>
            <a:ext cx="5333695" cy="425196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920240"/>
            <a:ext cx="4967935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Settings Preferences &amp; Continuous Pagination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Authentic YouTube Settings UI: Replicates YouTube's genuine settings dialog with clean modal backdrop and smooth exit.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Display Theme Engine: Instant switch between Dark Mode and Light Mode updating all backgrounds, cards, and text.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Autoplay &amp; HD Stream Toggles: Configurable Autoplay Next Video and default HD 1080p stream resolution preference.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YouTube Data API v3 Live Switch: Toggle between offline curated mock library and Google Cloud live API with custom API key.</a:t>
            </a:r>
          </a:p>
          <a:p>
            <a:pPr>
              <a:spcBef>
                <a:spcPts val="800"/>
              </a:spcBef>
              <a:defRPr sz="950">
                <a:solidFill>
                  <a:srgbClr val="FEF3C7"/>
                </a:solidFill>
              </a:defRPr>
            </a:pPr>
            <a:r>
              <a:t>•  Continuous Infinite Scroll: react-infinite-scroll-component automatically loads more video cards on scroll down without reload.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nematic_d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261619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713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BBF24"/>
                </a:solidFill>
              </a:defRPr>
            </a:pPr>
            <a:r>
              <a:t>THANK YOU</a:t>
            </a:r>
          </a:p>
          <a:p>
            <a:pPr algn="ctr">
              <a:spcBef>
                <a:spcPts val="1200"/>
              </a:spcBef>
              <a:defRPr sz="1600" b="1">
                <a:solidFill>
                  <a:srgbClr val="F97316"/>
                </a:solidFill>
              </a:defRPr>
            </a:pPr>
            <a:r>
              <a:t>PHEW TUBE — HIGH-PERFORMANCE STREAMING PLATFORM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38BDF8"/>
                </a:solidFill>
              </a:defRPr>
            </a:pPr>
            <a:r>
              <a:t>Department of Computer Science &amp; Engineering • Chitkara University</a:t>
            </a:r>
          </a:p>
          <a:p>
            <a:pPr algn="ctr">
              <a:spcBef>
                <a:spcPts val="1400"/>
              </a:spcBef>
              <a:defRPr sz="1150" b="1">
                <a:solidFill>
                  <a:srgbClr val="FDE047"/>
                </a:solidFill>
              </a:defRPr>
            </a:pPr>
            <a:r>
              <a:t>GROUP G15 • PROJECT ID: G15-PID-17 • FRONT END ENGINEERING - II (Phase 2)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