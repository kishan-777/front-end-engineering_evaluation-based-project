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731520" cy="73152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93268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PheW TuBe: Video Streaming Platform</a:t>
            </a:r>
          </a:p>
          <a:p>
            <a:pPr>
              <a:spcBef>
                <a:spcPts val="600"/>
              </a:spcBef>
              <a:defRPr sz="1700" b="1">
                <a:solidFill>
                  <a:srgbClr val="FF0033"/>
                </a:solidFill>
              </a:defRPr>
            </a:pPr>
            <a:r>
              <a:t>Front End Engineering - II (25CSE0203) — Project Based Evaluation-2 (Batch-2025)</a:t>
            </a:r>
          </a:p>
          <a:p>
            <a:pPr>
              <a:spcBef>
                <a:spcPts val="600"/>
              </a:spcBef>
              <a:defRPr sz="1400">
                <a:solidFill>
                  <a:srgbClr val="3EA6FF"/>
                </a:solidFill>
              </a:defRPr>
            </a:pPr>
            <a:r>
              <a:t>Department of Computer Science &amp; Engineering • Chitkara University, Punjab</a:t>
            </a:r>
          </a:p>
        </p:txBody>
      </p:sp>
      <p:pic>
        <p:nvPicPr>
          <p:cNvPr id="5" name="Picture 4" descr="chitka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822960"/>
            <a:ext cx="6843037" cy="1280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291840"/>
            <a:ext cx="10728655" cy="2926080"/>
          </a:xfrm>
          <a:prstGeom prst="roundRect">
            <a:avLst/>
          </a:prstGeom>
          <a:solidFill>
            <a:srgbClr val="161922"/>
          </a:solidFill>
          <a:ln w="1905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45720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0033"/>
                </a:solidFill>
              </a:defRPr>
            </a:pPr>
            <a:r>
              <a:t>Supervised By: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Mr. Shubham Kumar</a:t>
            </a:r>
          </a:p>
          <a:p>
            <a:pPr>
              <a:spcBef>
                <a:spcPts val="400"/>
              </a:spcBef>
              <a:defRPr sz="1300">
                <a:solidFill>
                  <a:srgbClr val="CDD2DC"/>
                </a:solidFill>
              </a:defRPr>
            </a:pPr>
            <a:r>
              <a:t>Technical Trainer, Department of CSE</a:t>
            </a:r>
          </a:p>
          <a:p>
            <a:pPr>
              <a:spcBef>
                <a:spcPts val="400"/>
              </a:spcBef>
              <a:defRPr sz="1150">
                <a:solidFill>
                  <a:srgbClr val="969BA8"/>
                </a:solidFill>
              </a:defRPr>
            </a:pPr>
            <a:r>
              <a:t>Chitkara University Institute of Engineering &amp;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566160"/>
            <a:ext cx="484632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EA6FF"/>
                </a:solidFill>
              </a:defRPr>
            </a:pPr>
            <a:r>
              <a:t>Submitted By (Group G-15):</a:t>
            </a:r>
          </a:p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Kanav Chadha — Roll No: 2510990649 (G-15)</a:t>
            </a:r>
          </a:p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Kishan — Roll No: 2510991457 (G-15)</a:t>
            </a:r>
          </a:p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Arsh Behl — Roll No: 2510991354 (G-15)</a:t>
            </a:r>
          </a:p>
          <a:p>
            <a:pPr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Soumajit Majee — Roll No: 2510990383 (G-15)</a:t>
            </a:r>
          </a:p>
        </p:txBody>
      </p:sp>
    </p:spTree>
  </p:cSld>
  <p:clrMapOvr>
    <a:masterClrMapping/>
  </p:clrMapOvr>
  <p:transition spd="fast">
    <p:push dir="l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</a:pPr>
            <a:r>
              <a:rPr b="1" sz="1500">
                <a:solidFill>
                  <a:srgbClr val="FF0033"/>
                </a:solidFill>
              </a:rPr>
              <a:t>01. </a:t>
            </a:r>
            <a:r>
              <a:rPr sz="1400" b="1">
                <a:solidFill>
                  <a:srgbClr val="FFFFFF"/>
                </a:solidFill>
              </a:rPr>
              <a:t>Evaluation-II Vision &amp; Milestone Objectives (Page 03)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FF0033"/>
                </a:solidFill>
              </a:rPr>
              <a:t>02. </a:t>
            </a:r>
            <a:r>
              <a:rPr sz="1400" b="1">
                <a:solidFill>
                  <a:srgbClr val="FFFFFF"/>
                </a:solidFill>
              </a:rPr>
              <a:t>Syllabus-Aligned Technology Stack &amp; Architecture (Page 04)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FF0033"/>
                </a:solidFill>
              </a:rPr>
              <a:t>03. </a:t>
            </a:r>
            <a:r>
              <a:rPr sz="1400" b="1">
                <a:solidFill>
                  <a:srgbClr val="FFFFFF"/>
                </a:solidFill>
              </a:rPr>
              <a:t>Core Component Architecture &amp; Modularity (Page 05)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FF0033"/>
                </a:solidFill>
              </a:rPr>
              <a:t>04. </a:t>
            </a:r>
            <a:r>
              <a:rPr sz="1400" b="1">
                <a:solidFill>
                  <a:srgbClr val="FFFFFF"/>
                </a:solidFill>
              </a:rPr>
              <a:t>Dynamic Watch Route &amp; Embedded Video Engine (/watch/:id) (Page 06)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FF0033"/>
                </a:solidFill>
              </a:rPr>
              <a:t>05. </a:t>
            </a:r>
            <a:r>
              <a:rPr sz="1400" b="1">
                <a:solidFill>
                  <a:srgbClr val="FFFFFF"/>
                </a:solidFill>
              </a:rPr>
              <a:t>Interactive Comments System with useRef &amp; Dynamic Sorting (Page 07)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</a:pPr>
            <a:r>
              <a:rPr b="1" sz="1500">
                <a:solidFill>
                  <a:srgbClr val="3EA6FF"/>
                </a:solidFill>
              </a:rPr>
              <a:t>06. </a:t>
            </a:r>
            <a:r>
              <a:rPr sz="1400" b="1">
                <a:solidFill>
                  <a:srgbClr val="FFFFFF"/>
                </a:solidFill>
              </a:rPr>
              <a:t>Global State Architecture (Context API) &amp; LocalStorage Sync (Page 08)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3EA6FF"/>
                </a:solidFill>
              </a:rPr>
              <a:t>07. </a:t>
            </a:r>
            <a:r>
              <a:rPr sz="1400" b="1">
                <a:solidFill>
                  <a:srgbClr val="FFFFFF"/>
                </a:solidFill>
              </a:rPr>
              <a:t>Creator Ecosystem &amp; Exact 2026 YouTube Metrics (Page 09)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3EA6FF"/>
                </a:solidFill>
              </a:rPr>
              <a:t>08. </a:t>
            </a:r>
            <a:r>
              <a:rPr sz="1400" b="1">
                <a:solidFill>
                  <a:srgbClr val="FFFFFF"/>
                </a:solidFill>
              </a:rPr>
              <a:t>Multi-Device Responsive Design &amp; Modern UI/UX Layer (Page 10)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3EA6FF"/>
                </a:solidFill>
              </a:rPr>
              <a:t>09. </a:t>
            </a:r>
            <a:r>
              <a:rPr sz="1400" b="1">
                <a:solidFill>
                  <a:srgbClr val="FFFFFF"/>
                </a:solidFill>
              </a:rPr>
              <a:t>Technical Roadmap &amp; Scope for Phase 3 (MERN Stack) (Page 11)</a:t>
            </a:r>
          </a:p>
          <a:p>
            <a:pPr>
              <a:spcAft>
                <a:spcPts val="1800"/>
              </a:spcAft>
            </a:pPr>
            <a:r>
              <a:rPr b="1" sz="1500">
                <a:solidFill>
                  <a:srgbClr val="3EA6FF"/>
                </a:solidFill>
              </a:rPr>
              <a:t>10. </a:t>
            </a:r>
            <a:r>
              <a:rPr sz="1400" b="1">
                <a:solidFill>
                  <a:srgbClr val="FFFFFF"/>
                </a:solidFill>
              </a:rPr>
              <a:t>Summary, Live Demonstration &amp; Viva Readiness (Page 12)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Evaluation-II Vision &amp; Milestone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Phase 1 vs Phase 2 Focus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Phase 1 Foundation: </a:t>
            </a:r>
            <a:r>
              <a:rPr sz="1400">
                <a:solidFill>
                  <a:srgbClr val="CDD2DC"/>
                </a:solidFill>
              </a:rPr>
              <a:t>Established responsive card grids, category chips, and external YouTube links.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Phase 2 Transition: </a:t>
            </a:r>
            <a:r>
              <a:rPr sz="1400">
                <a:solidFill>
                  <a:srgbClr val="CDD2DC"/>
                </a:solidFill>
              </a:rPr>
              <a:t>Elevated PheW TuBe into an authentic, stateful Single Page Application (SPA).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Zero Page Reloads: </a:t>
            </a:r>
            <a:r>
              <a:rPr sz="1400">
                <a:solidFill>
                  <a:srgbClr val="CDD2DC"/>
                </a:solidFill>
              </a:rPr>
              <a:t>Client-side routing via React Router DOM ensures instant state reactivity without full flushes.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Core Technical Objectives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Dynamic Route: </a:t>
            </a:r>
            <a:r>
              <a:rPr sz="1400">
                <a:solidFill>
                  <a:srgbClr val="CDD2DC"/>
                </a:solidFill>
              </a:rPr>
              <a:t>Deep link /watch/:id powered by useParams() with embedded 16:9 streaming.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DOM Control via useRef: </a:t>
            </a:r>
            <a:r>
              <a:rPr sz="1400">
                <a:solidFill>
                  <a:srgbClr val="CDD2DC"/>
                </a:solidFill>
              </a:rPr>
              <a:t>Direct focus on comment inputs and auto-scroll control without synthetic re-renders.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Global Context API: </a:t>
            </a:r>
            <a:r>
              <a:rPr sz="1400">
                <a:solidFill>
                  <a:srgbClr val="CDD2DC"/>
                </a:solidFill>
              </a:rPr>
              <a:t>Centralized multi-state bus eliminating prop drilling across nested component trees.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User Experience &amp; Realism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Up-Next Queue: </a:t>
            </a:r>
            <a:r>
              <a:rPr sz="1400">
                <a:solidFill>
                  <a:srgbClr val="CDD2DC"/>
                </a:solidFill>
              </a:rPr>
              <a:t>Dynamic video swapping via useNavigate() with synchronized metadata.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Toast Bus: </a:t>
            </a:r>
            <a:r>
              <a:rPr sz="1400">
                <a:solidFill>
                  <a:srgbClr val="CDD2DC"/>
                </a:solidFill>
              </a:rPr>
              <a:t>Integrated react-toastify for instant feedback on user actions and likes.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Responsive Parity: </a:t>
            </a:r>
            <a:r>
              <a:rPr sz="1400">
                <a:solidFill>
                  <a:srgbClr val="CDD2DC"/>
                </a:solidFill>
              </a:rPr>
              <a:t>Fluid scaling across 375px mobile, 768px tablet, and 1440px desktop screens.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Syllabus-Aligned Technology Stack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React 19 &amp; Routing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Functional Components: </a:t>
            </a:r>
            <a:r>
              <a:rPr sz="1400">
                <a:solidFill>
                  <a:srgbClr val="CDD2DC"/>
                </a:solidFill>
              </a:rPr>
              <a:t>100% modular, pure functional architecture with explicit hook lifecycles.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React Router DOM v6: </a:t>
            </a:r>
            <a:r>
              <a:rPr sz="1400">
                <a:solidFill>
                  <a:srgbClr val="CDD2DC"/>
                </a:solidFill>
              </a:rPr>
              <a:t>Declarative routing engine featuring parameterized dynamic routes (/watch/:id).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Vite 8 Build Tooling: </a:t>
            </a:r>
            <a:r>
              <a:rPr sz="1400">
                <a:solidFill>
                  <a:srgbClr val="CDD2DC"/>
                </a:solidFill>
              </a:rPr>
              <a:t>Lightning-fast ESM bundling delivering sub-350ms hot module replacement (HMR).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Hooks Lifecycle Layer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useState &amp; useEffect: </a:t>
            </a:r>
            <a:r>
              <a:rPr sz="1400">
                <a:solidFill>
                  <a:srgbClr val="CDD2DC"/>
                </a:solidFill>
              </a:rPr>
              <a:t>Controlled inputs, mount lifecycle triggers, and document title synchronization.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useRef Hook: </a:t>
            </a:r>
            <a:r>
              <a:rPr sz="1400">
                <a:solidFill>
                  <a:srgbClr val="CDD2DC"/>
                </a:solidFill>
              </a:rPr>
              <a:t>Mutable non-rendering container for DOM focus control and debounced listeners.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useParams &amp; useNavigate: </a:t>
            </a:r>
            <a:r>
              <a:rPr sz="1400">
                <a:solidFill>
                  <a:srgbClr val="CDD2DC"/>
                </a:solidFill>
              </a:rPr>
              <a:t>URL parameter extraction and programmatic navigation without page reloads.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State &amp; Notification Bus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Context API: </a:t>
            </a:r>
            <a:r>
              <a:rPr sz="1400">
                <a:solidFill>
                  <a:srgbClr val="CDD2DC"/>
                </a:solidFill>
              </a:rPr>
              <a:t>Shared application state for library, history, subscriptions, and auth.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Browser LocalStorage: </a:t>
            </a:r>
            <a:r>
              <a:rPr sz="1400">
                <a:solidFill>
                  <a:srgbClr val="CDD2DC"/>
                </a:solidFill>
              </a:rPr>
              <a:t>Client-side JSON persistence ensuring data survives page refreshes.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react-toastify: </a:t>
            </a:r>
            <a:r>
              <a:rPr sz="1400">
                <a:solidFill>
                  <a:srgbClr val="CDD2DC"/>
                </a:solidFill>
              </a:rPr>
              <a:t>Non-blocking alert toasts recommended by course supervisor Mr. Shubham Kumar.</a:t>
            </a:r>
          </a:p>
        </p:txBody>
      </p:sp>
    </p:spTree>
  </p:cSld>
  <p:clrMapOvr>
    <a:masterClrMapping/>
  </p:clrMapOvr>
  <p:transition spd="fast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Core Component Architecture &amp; Modularity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48097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Component Hierarchy &amp; Responsibility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&lt;AppProvider&gt; (Root Context): </a:t>
            </a:r>
            <a:r>
              <a:rPr sz="1400">
                <a:solidFill>
                  <a:srgbClr val="CDD2DC"/>
                </a:solidFill>
              </a:rPr>
              <a:t>Houses global state slices, reducer actions, and localStorage side effects.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&lt;Navbar&gt;: </a:t>
            </a:r>
            <a:r>
              <a:rPr sz="1400">
                <a:solidFill>
                  <a:srgbClr val="CDD2DC"/>
                </a:solidFill>
              </a:rPr>
              <a:t>Independent search bar with live auto-complete dropdown, microphone voice trigger, and auth modal.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&lt;Sidebar&gt; &amp; &lt;CategoryChips&gt;: </a:t>
            </a:r>
            <a:r>
              <a:rPr sz="1400">
                <a:solidFill>
                  <a:srgbClr val="CDD2DC"/>
                </a:solidFill>
              </a:rPr>
              <a:t>Two-way bound navigation and category filtering driving video feeds.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&lt;VideoCard&gt; &amp; &lt;ShortsCard&gt;: </a:t>
            </a:r>
            <a:r>
              <a:rPr sz="1400">
                <a:solidFill>
                  <a:srgbClr val="CDD2DC"/>
                </a:solidFill>
              </a:rPr>
              <a:t>Pure presentation components passing IDs to dynamic watch routes via navigate hooks.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&lt;WatchPage&gt;: </a:t>
            </a:r>
            <a:r>
              <a:rPr sz="1400">
                <a:solidFill>
                  <a:srgbClr val="CDD2DC"/>
                </a:solidFill>
              </a:rPr>
              <a:t>Master composite page integrating video player, channel actions, comments feed, and recommended sidebar.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536192"/>
            <a:ext cx="48097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Data Flow &amp; Isolation Architecture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Unidirectional Data Flow: </a:t>
            </a:r>
            <a:r>
              <a:rPr sz="1400">
                <a:solidFill>
                  <a:srgbClr val="CDD2DC"/>
                </a:solidFill>
              </a:rPr>
              <a:t>Context state descends via hooks; child actions bubble up via context methods (toggleLike, addComment).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Prop-Drilling Elimination: </a:t>
            </a:r>
            <a:r>
              <a:rPr sz="1400">
                <a:solidFill>
                  <a:srgbClr val="CDD2DC"/>
                </a:solidFill>
              </a:rPr>
              <a:t>WatchPage, Navbar, and Sidebar independently consume useApp() without intermediary props.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Modular Route Segregation: </a:t>
            </a:r>
            <a:r>
              <a:rPr sz="1400">
                <a:solidFill>
                  <a:srgbClr val="CDD2DC"/>
                </a:solidFill>
              </a:rPr>
              <a:t>Distinct routes for /, /watch/:id, /shorts, /history, /liked, /watch-later, and /subscriptions.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Authentication Modal Isolation: </a:t>
            </a:r>
            <a:r>
              <a:rPr sz="1400">
                <a:solidFill>
                  <a:srgbClr val="CDD2DC"/>
                </a:solidFill>
              </a:rPr>
              <a:t>Client-side auth popup controlled by Context state, avoiding parent re-renders.</a:t>
            </a:r>
          </a:p>
        </p:txBody>
      </p:sp>
    </p:spTree>
  </p:cSld>
  <p:clrMapOvr>
    <a:masterClrMapping/>
  </p:clrMapOvr>
  <p:transition spd="fast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Dynamic Watch Route &amp; Embedded Video Engine (/watch/:id)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94360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554126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Dynamic Routing &amp; Streaming Player Engine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URL Parameter Extraction: </a:t>
            </a:r>
            <a:r>
              <a:rPr sz="1400">
                <a:solidFill>
                  <a:srgbClr val="CDD2DC"/>
                </a:solidFill>
              </a:rPr>
              <a:t>const { id } = useParams() extracts video ID from route wildcard without page reload.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16:9 Streaming Player: </a:t>
            </a:r>
            <a:r>
              <a:rPr sz="1400">
                <a:solidFill>
                  <a:srgbClr val="CDD2DC"/>
                </a:solidFill>
              </a:rPr>
              <a:t>Embeds verified YouTube streams with autoplay, picture-in-picture, and fullscreen controls.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Up-Next Recommendation Engine: </a:t>
            </a:r>
            <a:r>
              <a:rPr sz="1400">
                <a:solidFill>
                  <a:srgbClr val="CDD2DC"/>
                </a:solidFill>
              </a:rPr>
              <a:t>Right-column queue filtered dynamically by category; clicking swaps video via useNavigate().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Auto-Scroll on Video Change: </a:t>
            </a:r>
            <a:r>
              <a:rPr sz="1400">
                <a:solidFill>
                  <a:srgbClr val="CDD2DC"/>
                </a:solidFill>
              </a:rPr>
              <a:t>window.scrollTo(0, 0) automatically triggers in useEffect when video ID updates.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Persistent Watch History: </a:t>
            </a:r>
            <a:r>
              <a:rPr sz="1400">
                <a:solidFill>
                  <a:srgbClr val="CDD2DC"/>
                </a:solidFill>
              </a:rPr>
              <a:t>Navigating to a video automatically appends it to persistent history in localStorage.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371600"/>
            <a:ext cx="448056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aiaurcode_reac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023360" cy="22631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4114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EA6FF"/>
                </a:solidFill>
              </a:defRPr>
            </a:pPr>
            <a:r>
              <a:t>In-App Watch Engine Live Preview</a:t>
            </a:r>
          </a:p>
          <a:p>
            <a:pPr>
              <a:spcBef>
                <a:spcPts val="400"/>
              </a:spcBef>
              <a:defRPr sz="1250">
                <a:solidFill>
                  <a:srgbClr val="CDD2DC"/>
                </a:solidFill>
              </a:defRPr>
            </a:pPr>
            <a:r>
              <a:t>Features dynamic /watch/:id route, channel action pill bar (Like, Watch Later, Share), interactive comments, and synchronized Up-Next queue.</a:t>
            </a:r>
          </a:p>
        </p:txBody>
      </p:sp>
    </p:spTree>
  </p:cSld>
  <p:clrMapOvr>
    <a:masterClrMapping/>
  </p:clrMapOvr>
  <p:transition spd="fast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Interactive Comments System with useRef &amp; Dynamic Sorting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94360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554126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Targeted DOM Control &amp; Comment Architecture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DOM Referencing via useRef: </a:t>
            </a:r>
            <a:r>
              <a:rPr sz="1400">
                <a:solidFill>
                  <a:srgbClr val="CDD2DC"/>
                </a:solidFill>
              </a:rPr>
              <a:t>Initialized as commentInputRef = useRef(null) and directly attached to the comment text field.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Programmatic Focus: </a:t>
            </a:r>
            <a:r>
              <a:rPr sz="1400">
                <a:solidFill>
                  <a:srgbClr val="CDD2DC"/>
                </a:solidFill>
              </a:rPr>
              <a:t>Calling commentInputRef.current?.focus() draws immediate user focus without re-rendering the tree.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Isolated Video Comment Threads: </a:t>
            </a:r>
            <a:r>
              <a:rPr sz="1400">
                <a:solidFill>
                  <a:srgbClr val="CDD2DC"/>
                </a:solidFill>
              </a:rPr>
              <a:t>Comments stored by video ID in state dictionary: comments[videoId] = [...].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Dynamic Sorting Engine: </a:t>
            </a:r>
            <a:r>
              <a:rPr sz="1400">
                <a:solidFill>
                  <a:srgbClr val="CDD2DC"/>
                </a:solidFill>
              </a:rPr>
              <a:t>Instant sorting toggle between Top Comments (by upvotes) and Newest (chronological).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Optimistic Submissions: </a:t>
            </a:r>
            <a:r>
              <a:rPr sz="1400">
                <a:solidFill>
                  <a:srgbClr val="CDD2DC"/>
                </a:solidFill>
              </a:rPr>
              <a:t>Comments post instantly with 'Just now' timestamp and serialize to browser localStorage.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371600"/>
            <a:ext cx="448056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tent_ep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02336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4114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0033"/>
                </a:solidFill>
              </a:defRPr>
            </a:pPr>
            <a:r>
              <a:t>Interactive Comments &amp; Discussion</a:t>
            </a:r>
          </a:p>
          <a:p>
            <a:pPr>
              <a:spcBef>
                <a:spcPts val="400"/>
              </a:spcBef>
              <a:defRPr sz="1250">
                <a:solidFill>
                  <a:srgbClr val="CDD2DC"/>
                </a:solidFill>
              </a:defRPr>
            </a:pPr>
            <a:r>
              <a:t>Shows live comment count, controlled text input, cancel/submit buttons, upvote counters, and dynamic user avatar feedback.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Global State Architecture (Context API) &amp; LocalStorage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Context API Design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Single Source of Truth: </a:t>
            </a:r>
            <a:r>
              <a:rPr sz="1400">
                <a:solidFill>
                  <a:srgbClr val="CDD2DC"/>
                </a:solidFill>
              </a:rPr>
              <a:t>Centralizes state for videos, shorts, likes, watch later, history, and comments.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Custom Hook: </a:t>
            </a:r>
            <a:r>
              <a:rPr sz="1400">
                <a:solidFill>
                  <a:srgbClr val="CDD2DC"/>
                </a:solidFill>
              </a:rPr>
              <a:t>useApp() provides simple, guarded access to state and dispatch methods.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Decoupled Logic: </a:t>
            </a:r>
            <a:r>
              <a:rPr sz="1400">
                <a:solidFill>
                  <a:srgbClr val="CDD2DC"/>
                </a:solidFill>
              </a:rPr>
              <a:t>Keeps UI components clean and focused purely on rendering 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LocalStorage Sync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Lazy Initializers: </a:t>
            </a:r>
            <a:r>
              <a:rPr sz="1400">
                <a:solidFill>
                  <a:srgbClr val="CDD2DC"/>
                </a:solidFill>
              </a:rPr>
              <a:t>State initializes directly from localStorage.getItem() on page boot.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Reactive Effects: </a:t>
            </a:r>
            <a:r>
              <a:rPr sz="1400">
                <a:solidFill>
                  <a:srgbClr val="CDD2DC"/>
                </a:solidFill>
              </a:rPr>
              <a:t>Dedicated useEffect hooks automatically serialize state changes.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Offline Durability: </a:t>
            </a:r>
            <a:r>
              <a:rPr sz="1400">
                <a:solidFill>
                  <a:srgbClr val="CDD2DC"/>
                </a:solidFill>
              </a:rPr>
              <a:t>User likes, playlists, and watch history persist across browser restarts.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Client-Side Auth Modal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Controlled Modal: </a:t>
            </a:r>
            <a:r>
              <a:rPr sz="1400">
                <a:solidFill>
                  <a:srgbClr val="CDD2DC"/>
                </a:solidFill>
              </a:rPr>
              <a:t>Features Sign In / Sign Up toggle (faculty ecom class architecture).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Session State: </a:t>
            </a:r>
            <a:r>
              <a:rPr sz="1400">
                <a:solidFill>
                  <a:srgbClr val="CDD2DC"/>
                </a:solidFill>
              </a:rPr>
              <a:t>Tracks user name, university email, and dynamic avatar status in state.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Action Guarding: </a:t>
            </a:r>
            <a:r>
              <a:rPr sz="1400">
                <a:solidFill>
                  <a:srgbClr val="CDD2DC"/>
                </a:solidFill>
              </a:rPr>
              <a:t>Displays toast alerts prompting sign-in on upload and restricted actions.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Creator Ecosystem &amp; Exact 2026 YouTube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310896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2980944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Entertainment &amp; Music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MrBeast: </a:t>
            </a:r>
            <a:r>
              <a:rPr sz="1400">
                <a:solidFill>
                  <a:srgbClr val="CDD2DC"/>
                </a:solidFill>
              </a:rPr>
              <a:t>522M subscribers — World's #1 creator; features 7-Days Stranded challenges.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T-Series: </a:t>
            </a:r>
            <a:r>
              <a:rPr sz="1400">
                <a:solidFill>
                  <a:srgbClr val="CDD2DC"/>
                </a:solidFill>
              </a:rPr>
              <a:t>316M subscribers — Leading Indian music label with viral movie soundtracks.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Techno Gamerz: </a:t>
            </a:r>
            <a:r>
              <a:rPr sz="1400">
                <a:solidFill>
                  <a:srgbClr val="CDD2DC"/>
                </a:solidFill>
              </a:rPr>
              <a:t>53.4M subscribers — India's gaming icon; features GTA 5 and Minecraft series.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310896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36192"/>
            <a:ext cx="2980944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Comedy &amp; Specialized Gaming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Samay Raina: </a:t>
            </a:r>
            <a:r>
              <a:rPr sz="1400">
                <a:solidFill>
                  <a:srgbClr val="CDD2DC"/>
                </a:solidFill>
              </a:rPr>
              <a:t>7.65M subscribers — Standup comedy &amp; India's Got Latent episodes.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Wemmbu: </a:t>
            </a:r>
            <a:r>
              <a:rPr sz="1400">
                <a:solidFill>
                  <a:srgbClr val="CDD2DC"/>
                </a:solidFill>
              </a:rPr>
              <a:t>3.45M subscribers — Hardcore Minecraft survival and trap build walkthroughs.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Verified Community: </a:t>
            </a:r>
            <a:r>
              <a:rPr sz="1400">
                <a:solidFill>
                  <a:srgbClr val="CDD2DC"/>
                </a:solidFill>
              </a:rPr>
              <a:t>8 Verified Channels spanning Coding, Comedy, Music, and Gaming.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310896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536192"/>
            <a:ext cx="2980944" cy="277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Developer Education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freeCodeCamp.org: </a:t>
            </a:r>
            <a:r>
              <a:rPr sz="1400">
                <a:solidFill>
                  <a:srgbClr val="CDD2DC"/>
                </a:solidFill>
              </a:rPr>
              <a:t>12.0M subscribers — Comprehensive 10-Hour DSA masterclass.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Chai aur Code: </a:t>
            </a:r>
            <a:r>
              <a:rPr sz="1400">
                <a:solidFill>
                  <a:srgbClr val="CDD2DC"/>
                </a:solidFill>
              </a:rPr>
              <a:t>645K subscribers — Hindi developer education and React 19 series.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NeetCode / Striver: </a:t>
            </a:r>
            <a:r>
              <a:rPr sz="1400">
                <a:solidFill>
                  <a:srgbClr val="CDD2DC"/>
                </a:solidFill>
              </a:rPr>
              <a:t>980K subscribers — Algorithms and placement interview prep.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371600"/>
          </a:xfrm>
          <a:prstGeom prst="roundRect">
            <a:avLst/>
          </a:prstGeom>
          <a:solidFill>
            <a:srgbClr val="161922"/>
          </a:solidFill>
          <a:ln w="1524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rbea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800600"/>
            <a:ext cx="797169" cy="7772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57400" y="4892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MrBeast (522M)</a:t>
            </a:r>
          </a:p>
        </p:txBody>
      </p:sp>
      <p:pic>
        <p:nvPicPr>
          <p:cNvPr id="16" name="Picture 15" descr="samay_ra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800600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00600" y="4892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Samay Raina (7.65M)</a:t>
            </a:r>
          </a:p>
        </p:txBody>
      </p:sp>
      <p:pic>
        <p:nvPicPr>
          <p:cNvPr id="18" name="Picture 17" descr="techno_gamer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800600"/>
            <a:ext cx="866518" cy="7772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43800" y="4892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Techno Gamerz (53.4M)</a:t>
            </a:r>
          </a:p>
        </p:txBody>
      </p:sp>
      <p:pic>
        <p:nvPicPr>
          <p:cNvPr id="20" name="Picture 19" descr="chaiaurcod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48006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287000" y="48920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Chai aur Code (645K)</a:t>
            </a:r>
          </a:p>
        </p:txBody>
      </p:sp>
    </p:spTree>
  </p:cSld>
  <p:clrMapOvr>
    <a:masterClrMapping/>
  </p:clrMapOvr>
  <p:transition spd="fast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Multi-Device Responsive Design &amp; Modern UI/UX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94360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554126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Responsive Breakpoints &amp; UX Architecture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Desktop (&gt;1150px): </a:t>
            </a:r>
            <a:r>
              <a:rPr sz="1400">
                <a:solidFill>
                  <a:srgbClr val="CDD2DC"/>
                </a:solidFill>
              </a:rPr>
              <a:t>4-column video feed, collapsible full sidebar, dual-column Watch page with sidebar queue.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Tablet (768px - 1150px): </a:t>
            </a:r>
            <a:r>
              <a:rPr sz="1400">
                <a:solidFill>
                  <a:srgbClr val="CDD2DC"/>
                </a:solidFill>
              </a:rPr>
              <a:t>2-3 column fluid grid, compact icon sidebar, stacked Watch page layout.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Mobile (&lt;480px): </a:t>
            </a:r>
            <a:r>
              <a:rPr sz="1400">
                <a:solidFill>
                  <a:srgbClr val="CDD2DC"/>
                </a:solidFill>
              </a:rPr>
              <a:t>Single column full-bleed cards, bottom navigation parity, full-width video player.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Live Search Autocomplete: </a:t>
            </a:r>
            <a:r>
              <a:rPr sz="1400">
                <a:solidFill>
                  <a:srgbClr val="CDD2DC"/>
                </a:solidFill>
              </a:rPr>
              <a:t>Instant substring matching with floating dropdown and direct video routing.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Native Voice Search: </a:t>
            </a:r>
            <a:r>
              <a:rPr sz="1400">
                <a:solidFill>
                  <a:srgbClr val="CDD2DC"/>
                </a:solidFill>
              </a:rPr>
              <a:t>Web Speech API microphone integration converting voice input directly to search queries.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Shorts Feed Scroll-Snap: </a:t>
            </a:r>
            <a:r>
              <a:rPr sz="1400">
                <a:solidFill>
                  <a:srgbClr val="CDD2DC"/>
                </a:solidFill>
              </a:rPr>
              <a:t>CSS scroll-snap-type: y mandatory for smooth vertical reel browsing.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371600"/>
            <a:ext cx="448056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ui_search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4023360" cy="37609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78040" y="411480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EA6FF"/>
                </a:solidFill>
              </a:defRPr>
            </a:pPr>
            <a:r>
              <a:t>Live Search &amp; Suggestion Overlay</a:t>
            </a:r>
          </a:p>
          <a:p>
            <a:pPr>
              <a:spcBef>
                <a:spcPts val="400"/>
              </a:spcBef>
              <a:defRPr sz="1250">
                <a:solidFill>
                  <a:srgbClr val="CDD2DC"/>
                </a:solidFill>
              </a:defRPr>
            </a:pPr>
            <a:r>
              <a:t>Features real-time autocomplete suggestion cards with creator subtitles, clear button, and voice recognition pulse indicator.</a:t>
            </a:r>
          </a:p>
        </p:txBody>
      </p:sp>
    </p:spTree>
  </p:cSld>
  <p:clrMapOvr>
    <a:masterClrMapping/>
  </p:clrMapOvr>
  <p:transition spd="fast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Technical Roadmap &amp; Scope for Phase 3 (MERN Stack)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Phase 1: Foundation (Done)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Complete UI Layout: </a:t>
            </a:r>
            <a:r>
              <a:rPr sz="1400">
                <a:solidFill>
                  <a:srgbClr val="CDD2DC"/>
                </a:solidFill>
              </a:rPr>
              <a:t>Dark obsidian theme layout, YouTube visual branding, and icon system.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Video &amp; Shorts Grid: </a:t>
            </a:r>
            <a:r>
              <a:rPr sz="1400">
                <a:solidFill>
                  <a:srgbClr val="CDD2DC"/>
                </a:solidFill>
              </a:rPr>
              <a:t>Multi-category filtering pills and responsive card layout.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Basic Navigation: </a:t>
            </a:r>
            <a:r>
              <a:rPr sz="1400">
                <a:solidFill>
                  <a:srgbClr val="CDD2DC"/>
                </a:solidFill>
              </a:rPr>
              <a:t>Sidebar navigation tabs and static search query input.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3EA6FF"/>
                </a:solidFill>
              </a:defRPr>
            </a:pPr>
            <a:r>
              <a:t>Phase 2: SPA (Current)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Dynamic Route: </a:t>
            </a:r>
            <a:r>
              <a:rPr sz="1400">
                <a:solidFill>
                  <a:srgbClr val="CDD2DC"/>
                </a:solidFill>
              </a:rPr>
              <a:t>/watch/:id via useParams with embedded 16:9 streaming.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Interactive Comments: </a:t>
            </a:r>
            <a:r>
              <a:rPr sz="1400">
                <a:solidFill>
                  <a:srgbClr val="CDD2DC"/>
                </a:solidFill>
              </a:rPr>
              <a:t>DOM focus control via useRef and Top/Newest sorting.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3EA6FF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State Bus &amp; Alerts: </a:t>
            </a:r>
            <a:r>
              <a:rPr sz="1400">
                <a:solidFill>
                  <a:srgbClr val="CDD2DC"/>
                </a:solidFill>
              </a:rPr>
              <a:t>Centralized Context API, LocalStorage sync, react-toastify, and Voice Search.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536192"/>
            <a:ext cx="29809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Phase 3: Full Stack (Roadmap)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Node.js &amp; Express API: </a:t>
            </a:r>
            <a:r>
              <a:rPr sz="1400">
                <a:solidFill>
                  <a:srgbClr val="CDD2DC"/>
                </a:solidFill>
              </a:rPr>
              <a:t>RESTful backend endpoints replacing mock JSON dataset.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MongoDB &amp; Mongoose: </a:t>
            </a:r>
            <a:r>
              <a:rPr sz="1400">
                <a:solidFill>
                  <a:srgbClr val="CDD2DC"/>
                </a:solidFill>
              </a:rPr>
              <a:t>Cloud database storing user profiles, videos, and comments.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JWT Authentication: </a:t>
            </a:r>
            <a:r>
              <a:rPr sz="1400">
                <a:solidFill>
                  <a:srgbClr val="CDD2DC"/>
                </a:solidFill>
              </a:rPr>
              <a:t>Server-verified authentication with encrypted user tokens.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Redux Toolkit: </a:t>
            </a:r>
            <a:r>
              <a:rPr sz="1400">
                <a:solidFill>
                  <a:srgbClr val="CDD2DC"/>
                </a:solidFill>
              </a:rPr>
              <a:t>Advanced cached state management and optimistic mutations.</a:t>
            </a:r>
          </a:p>
        </p:txBody>
      </p:sp>
    </p:spTree>
  </p:cSld>
  <p:clrMapOvr>
    <a:masterClrMapping/>
  </p:clrMapOvr>
  <p:transition spd="fast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365760" cy="54864"/>
          </a:xfrm>
          <a:prstGeom prst="rect">
            <a:avLst/>
          </a:prstGeom>
          <a:solidFill>
            <a:srgbClr val="FF0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9260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EA6FF"/>
                </a:solidFill>
              </a:defRPr>
            </a:pPr>
            <a:r>
              <a:t>GROUP G15  •  PROJECT ID: G15-PID-17 (P-17)  •  EVALUATION-II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</a:defRPr>
            </a:pPr>
            <a:r>
              <a:t>Summary, Live Demonstration &amp; Viva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828A9B"/>
                </a:solidFill>
              </a:defRPr>
            </a:pPr>
            <a:r>
              <a:t>PheW TuBe: Video Streaming Platform (G15-PID-17)  |  Evaluation-II  |  Page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536192"/>
            <a:ext cx="48097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0033"/>
                </a:solidFill>
              </a:defRPr>
            </a:pPr>
            <a:r>
              <a:t>Phase 2 Engineering Achievements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Zero Bounce In-App Streaming: </a:t>
            </a:r>
            <a:r>
              <a:rPr sz="1400">
                <a:solidFill>
                  <a:srgbClr val="CDD2DC"/>
                </a:solidFill>
              </a:rPr>
              <a:t>Fully functional /watch/:id route replacing external YouTube link-outs.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Strategic DOM Control: </a:t>
            </a:r>
            <a:r>
              <a:rPr sz="1400">
                <a:solidFill>
                  <a:srgbClr val="CDD2DC"/>
                </a:solidFill>
              </a:rPr>
              <a:t>useRef applied for auto-focusing comments and smooth scroll transitions.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Scalable State Management: </a:t>
            </a:r>
            <a:r>
              <a:rPr sz="1400">
                <a:solidFill>
                  <a:srgbClr val="CDD2DC"/>
                </a:solidFill>
              </a:rPr>
              <a:t>Global React Context API synchronized seamlessly with browser localStorage.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FF0033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Teacher-Recommended UX: </a:t>
            </a:r>
            <a:r>
              <a:rPr sz="1400">
                <a:solidFill>
                  <a:srgbClr val="CDD2DC"/>
                </a:solidFill>
              </a:rPr>
              <a:t>Integrated react-toastify alerts and native Web Speech voice search.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4663440"/>
          </a:xfrm>
          <a:prstGeom prst="roundRect">
            <a:avLst/>
          </a:prstGeom>
          <a:solidFill>
            <a:srgbClr val="161922"/>
          </a:solidFill>
          <a:ln w="17780">
            <a:solidFill>
              <a:srgbClr val="2E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536192"/>
            <a:ext cx="4809744" cy="4334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BA640"/>
                </a:solidFill>
              </a:defRPr>
            </a:pPr>
            <a:r>
              <a:t>Live Application Demonstration Highlights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Seamless Navigation: </a:t>
            </a:r>
            <a:r>
              <a:rPr sz="1400">
                <a:solidFill>
                  <a:srgbClr val="CDD2DC"/>
                </a:solidFill>
              </a:rPr>
              <a:t>Switching channels, categories, and up-next recommendations with zero page flushes.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Multi-Device Adaptability: </a:t>
            </a:r>
            <a:r>
              <a:rPr sz="1400">
                <a:solidFill>
                  <a:srgbClr val="CDD2DC"/>
                </a:solidFill>
              </a:rPr>
              <a:t>Tested across 375px mobile, 768px tablet, and 1440px desktop resolutions.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Production Verification: </a:t>
            </a:r>
            <a:r>
              <a:rPr sz="1400">
                <a:solidFill>
                  <a:srgbClr val="CDD2DC"/>
                </a:solidFill>
              </a:rPr>
              <a:t>100% Vite build success (sub-350ms bundle time) with 0 errors.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2BA640"/>
                </a:solidFill>
              </a:rPr>
              <a:t>• </a:t>
            </a:r>
            <a:r>
              <a:rPr b="1" sz="1400">
                <a:solidFill>
                  <a:srgbClr val="FFFFFF"/>
                </a:solidFill>
              </a:rPr>
              <a:t>Q&amp;A Readiness: </a:t>
            </a:r>
            <a:r>
              <a:rPr sz="1400">
                <a:solidFill>
                  <a:srgbClr val="CDD2DC"/>
                </a:solidFill>
              </a:rPr>
              <a:t>Team G15 is fully prepared for technical architecture and code defense viva.</a:t>
            </a:r>
          </a:p>
        </p:txBody>
      </p:sp>
    </p:spTree>
  </p:cSld>
  <p:clrMapOvr>
    <a:masterClrMapping/>
  </p:clrMapOvr>
  <p:transition spd="fast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