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94360"/>
            <a:ext cx="731520" cy="73152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7772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PheW TuBe: Video Streaming Platform</a:t>
            </a:r>
          </a:p>
          <a:p>
            <a:pPr>
              <a:spcBef>
                <a:spcPts val="600"/>
              </a:spcBef>
              <a:defRPr sz="1600" b="1">
                <a:solidFill>
                  <a:srgbClr val="FF0033"/>
                </a:solidFill>
              </a:defRPr>
            </a:pPr>
            <a:r>
              <a:t>Front End Engineering - II (25CSE0203) — Project Based Evaluation-2 (Batch-2025)</a:t>
            </a:r>
          </a:p>
          <a:p>
            <a:pPr>
              <a:spcBef>
                <a:spcPts val="600"/>
              </a:spcBef>
              <a:defRPr sz="1350">
                <a:solidFill>
                  <a:srgbClr val="3EA6FF"/>
                </a:solidFill>
              </a:defRPr>
            </a:pPr>
            <a:r>
              <a:t>Department of Computer Science &amp; Engineering • Chitkara University, Punjab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0" y="777240"/>
            <a:ext cx="246888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itka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896112"/>
            <a:ext cx="2194560" cy="41054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3200400"/>
            <a:ext cx="10728655" cy="3017520"/>
          </a:xfrm>
          <a:prstGeom prst="roundRect">
            <a:avLst/>
          </a:prstGeom>
          <a:solidFill>
            <a:srgbClr val="161922"/>
          </a:solidFill>
          <a:ln w="1905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474720"/>
            <a:ext cx="457200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FF0033"/>
                </a:solidFill>
              </a:defRPr>
            </a:pPr>
            <a:r>
              <a:t>Supervised By: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Mr. Shubham Kumar</a:t>
            </a:r>
          </a:p>
          <a:p>
            <a:pPr>
              <a:spcBef>
                <a:spcPts val="400"/>
              </a:spcBef>
              <a:defRPr sz="1300">
                <a:solidFill>
                  <a:srgbClr val="CDD2DC"/>
                </a:solidFill>
              </a:defRPr>
            </a:pPr>
            <a:r>
              <a:t>Technical Trainer, Department of CSE</a:t>
            </a:r>
          </a:p>
          <a:p>
            <a:pPr>
              <a:spcBef>
                <a:spcPts val="400"/>
              </a:spcBef>
              <a:defRPr sz="1150">
                <a:solidFill>
                  <a:srgbClr val="8C94A5"/>
                </a:solidFill>
              </a:defRPr>
            </a:pPr>
            <a:r>
              <a:t>Chitkara University Institute of Engineering &amp;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3474720"/>
            <a:ext cx="502920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3EA6FF"/>
                </a:solidFill>
              </a:defRPr>
            </a:pPr>
            <a:r>
              <a:t>Submitted By (Group G-15):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Kanav Chadha — Roll No: 2510990649 (G-15)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Kishan — Roll No: 2510991457 (G-15)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Arsh Behl — Roll No: 2510991354 (G-15)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Soumajit Majee — Roll No: 2510990383 (G-15)</a:t>
            </a:r>
          </a:p>
        </p:txBody>
      </p:sp>
    </p:spTree>
  </p:cSld>
  <p:clrMapOvr>
    <a:masterClrMapping/>
  </p:clrMapOvr>
  <p:transition spd="fast">
    <p:push dir="l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Table of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300">
                <a:solidFill>
                  <a:srgbClr val="FF0033"/>
                </a:solidFill>
              </a:rPr>
              <a:t>01. </a:t>
            </a:r>
            <a:r>
              <a:rPr sz="1200" b="1">
                <a:solidFill>
                  <a:srgbClr val="FFFFFF"/>
                </a:solidFill>
              </a:rPr>
              <a:t>Evaluation-II Vision &amp; Milestone Objectives (Page 03)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FF0033"/>
                </a:solidFill>
              </a:rPr>
              <a:t>02. </a:t>
            </a:r>
            <a:r>
              <a:rPr sz="1200" b="1">
                <a:solidFill>
                  <a:srgbClr val="FFFFFF"/>
                </a:solidFill>
              </a:rPr>
              <a:t>Syllabus-Aligned Tech Stack &amp; Architecture (Page 04)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FF0033"/>
                </a:solidFill>
              </a:rPr>
              <a:t>03. </a:t>
            </a:r>
            <a:r>
              <a:rPr sz="1200" b="1">
                <a:solidFill>
                  <a:srgbClr val="FFFFFF"/>
                </a:solidFill>
              </a:rPr>
              <a:t>Component Tree &amp; Unidirectional State Bus (Page 05)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FF0033"/>
                </a:solidFill>
              </a:rPr>
              <a:t>04. </a:t>
            </a:r>
            <a:r>
              <a:rPr sz="1200" b="1">
                <a:solidFill>
                  <a:srgbClr val="FFFFFF"/>
                </a:solidFill>
              </a:rPr>
              <a:t>Dynamic Watch Route &amp; Player (/watch/:id) (Page 06)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FF0033"/>
                </a:solidFill>
              </a:rPr>
              <a:t>05. </a:t>
            </a:r>
            <a:r>
              <a:rPr sz="1200" b="1">
                <a:solidFill>
                  <a:srgbClr val="FFFFFF"/>
                </a:solidFill>
              </a:rPr>
              <a:t>Interactive Comments &amp; DOM Focus (useRef) (Page 07)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FF0033"/>
                </a:solidFill>
              </a:rPr>
              <a:t>06. </a:t>
            </a:r>
            <a:r>
              <a:rPr sz="1200" b="1">
                <a:solidFill>
                  <a:srgbClr val="FFFFFF"/>
                </a:solidFill>
              </a:rPr>
              <a:t>Protected Routing &amp; Auth Guard Architecture (Page 08)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36192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300">
                <a:solidFill>
                  <a:srgbClr val="3EA6FF"/>
                </a:solidFill>
              </a:rPr>
              <a:t>07. </a:t>
            </a:r>
            <a:r>
              <a:rPr sz="1200" b="1">
                <a:solidFill>
                  <a:srgbClr val="FFFFFF"/>
                </a:solidFill>
              </a:rPr>
              <a:t>Infinite Scroll Feed Architecture (react-infinite-scroll) (Page 09)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3EA6FF"/>
                </a:solidFill>
              </a:rPr>
              <a:t>08. </a:t>
            </a:r>
            <a:r>
              <a:rPr sz="1200" b="1">
                <a:solidFill>
                  <a:srgbClr val="FFFFFF"/>
                </a:solidFill>
              </a:rPr>
              <a:t>YouTube Data API v3 &amp; Resilient Fallback Engine (Page 10)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3EA6FF"/>
                </a:solidFill>
              </a:rPr>
              <a:t>09. </a:t>
            </a:r>
            <a:r>
              <a:rPr sz="1200" b="1">
                <a:solidFill>
                  <a:srgbClr val="FFFFFF"/>
                </a:solidFill>
              </a:rPr>
              <a:t>Creator Ecosystem &amp; Subscribed Channels Grid (Page 11)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3EA6FF"/>
                </a:solidFill>
              </a:rPr>
              <a:t>10. </a:t>
            </a:r>
            <a:r>
              <a:rPr sz="1200" b="1">
                <a:solidFill>
                  <a:srgbClr val="FFFFFF"/>
                </a:solidFill>
              </a:rPr>
              <a:t>Multi-Device Responsiveness (iPad 1024px &amp; Mobile) (Page 12)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3EA6FF"/>
                </a:solidFill>
              </a:rPr>
              <a:t>11. </a:t>
            </a:r>
            <a:r>
              <a:rPr sz="1200" b="1">
                <a:solidFill>
                  <a:srgbClr val="FFFFFF"/>
                </a:solidFill>
              </a:rPr>
              <a:t>Technical Roadmap &amp; Scope for Phase 3 (MERN Stack) (Page 13)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3EA6FF"/>
                </a:solidFill>
              </a:rPr>
              <a:t>12. </a:t>
            </a:r>
            <a:r>
              <a:rPr sz="1200" b="1">
                <a:solidFill>
                  <a:srgbClr val="FFFFFF"/>
                </a:solidFill>
              </a:rPr>
              <a:t>Summary, Live Demonstration &amp; Viva Defense (Page 14)</a:t>
            </a:r>
          </a:p>
        </p:txBody>
      </p:sp>
    </p:spTree>
  </p:cSld>
  <p:clrMapOvr>
    <a:masterClrMapping/>
  </p:clrMapOvr>
  <p:transition spd="fast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Evaluation-II Vision &amp; Milestone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17904"/>
            <a:ext cx="30175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FF0033"/>
                </a:solidFill>
              </a:defRPr>
            </a:pPr>
            <a:r>
              <a:t>Phase 1 vs Phase 2 Focus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Phase 1 Baseline: </a:t>
            </a:r>
            <a:r>
              <a:rPr sz="1200">
                <a:solidFill>
                  <a:srgbClr val="CDD2DC"/>
                </a:solidFill>
              </a:rPr>
              <a:t>Established responsive card grids, category chips, and static YouTube links.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Phase 2 Evolution: </a:t>
            </a:r>
            <a:r>
              <a:rPr sz="1200">
                <a:solidFill>
                  <a:srgbClr val="CDD2DC"/>
                </a:solidFill>
              </a:rPr>
              <a:t>Elevated PheW TuBe into an authentic, stateful Single Page Application (SPA).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Zero Page Reloads: </a:t>
            </a:r>
            <a:r>
              <a:rPr sz="1200">
                <a:solidFill>
                  <a:srgbClr val="CDD2DC"/>
                </a:solidFill>
              </a:rPr>
              <a:t>Client-side routing via React Router DOM ensures instant state reactivity.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High User Retention: </a:t>
            </a:r>
            <a:r>
              <a:rPr sz="1200">
                <a:solidFill>
                  <a:srgbClr val="CDD2DC"/>
                </a:solidFill>
              </a:rPr>
              <a:t>Ad-free playback and instant search filters maximize student study focus.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17904"/>
            <a:ext cx="30175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3EA6FF"/>
                </a:solidFill>
              </a:defRPr>
            </a:pPr>
            <a:r>
              <a:t>Core Technical Objectives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Dynamic Route: </a:t>
            </a:r>
            <a:r>
              <a:rPr sz="1200">
                <a:solidFill>
                  <a:srgbClr val="CDD2DC"/>
                </a:solidFill>
              </a:rPr>
              <a:t>Deep link /watch/:id powered by useParams() with embedded 16:9 streaming.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DOM Control via useRef: </a:t>
            </a:r>
            <a:r>
              <a:rPr sz="1200">
                <a:solidFill>
                  <a:srgbClr val="CDD2DC"/>
                </a:solidFill>
              </a:rPr>
              <a:t>Direct focus on comment inputs and auto-scroll control without synthetic re-renders.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Protected Routing: </a:t>
            </a:r>
            <a:r>
              <a:rPr sz="1200">
                <a:solidFill>
                  <a:srgbClr val="CDD2DC"/>
                </a:solidFill>
              </a:rPr>
              <a:t>Guards sensitive user sections (Subscriptions, History, Library) for authenticated users only.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Infinite Pagination: </a:t>
            </a:r>
            <a:r>
              <a:rPr sz="1200">
                <a:solidFill>
                  <a:srgbClr val="CDD2DC"/>
                </a:solidFill>
              </a:rPr>
              <a:t>Non-blocking feed expansion matching modern web performance standards.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17904"/>
            <a:ext cx="30175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2BA640"/>
                </a:solidFill>
              </a:defRPr>
            </a:pPr>
            <a:r>
              <a:t>User Experience &amp; Realism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Up-Next Queue: </a:t>
            </a:r>
            <a:r>
              <a:rPr sz="1200">
                <a:solidFill>
                  <a:srgbClr val="CDD2DC"/>
                </a:solidFill>
              </a:rPr>
              <a:t>Dynamic video swapping via useNavigate() with synchronized metadata.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Toast Feedback: </a:t>
            </a:r>
            <a:r>
              <a:rPr sz="1200">
                <a:solidFill>
                  <a:srgbClr val="CDD2DC"/>
                </a:solidFill>
              </a:rPr>
              <a:t>Integrated react-toastify for instant feedback on user actions and likes.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Responsive Parity: </a:t>
            </a:r>
            <a:r>
              <a:rPr sz="1200">
                <a:solidFill>
                  <a:srgbClr val="CDD2DC"/>
                </a:solidFill>
              </a:rPr>
              <a:t>Fluid scaling across 375px mobile, 1024px iPad Mini, and 1440px desktop screens.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Durability: </a:t>
            </a:r>
            <a:r>
              <a:rPr sz="1200">
                <a:solidFill>
                  <a:srgbClr val="CDD2DC"/>
                </a:solidFill>
              </a:rPr>
              <a:t>Persistent state synced across browser sessions via localStorage.</a:t>
            </a:r>
          </a:p>
        </p:txBody>
      </p:sp>
    </p:spTree>
  </p:cSld>
  <p:clrMapOvr>
    <a:masterClrMapping/>
  </p:clrMapOvr>
  <p:transition spd="fast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Syllabus-Aligned Technology Stack &amp;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17904"/>
            <a:ext cx="30175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FF0033"/>
                </a:solidFill>
              </a:defRPr>
            </a:pPr>
            <a:r>
              <a:t>React 19 &amp; Routing Layer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Functional Components: </a:t>
            </a:r>
            <a:r>
              <a:rPr sz="1200">
                <a:solidFill>
                  <a:srgbClr val="CDD2DC"/>
                </a:solidFill>
              </a:rPr>
              <a:t>100% modular, pure functional architecture with explicit hook lifecycles.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React Router DOM v6: </a:t>
            </a:r>
            <a:r>
              <a:rPr sz="1200">
                <a:solidFill>
                  <a:srgbClr val="CDD2DC"/>
                </a:solidFill>
              </a:rPr>
              <a:t>Declarative routing engine with parameterized dynamic routes (/watch/:id).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Vite 8 Build Tooling: </a:t>
            </a:r>
            <a:r>
              <a:rPr sz="1200">
                <a:solidFill>
                  <a:srgbClr val="CDD2DC"/>
                </a:solidFill>
              </a:rPr>
              <a:t>Lightning-fast ESM bundling delivering sub-350ms hot module replacement (HMR).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Production Build: </a:t>
            </a:r>
            <a:r>
              <a:rPr sz="1200">
                <a:solidFill>
                  <a:srgbClr val="CDD2DC"/>
                </a:solidFill>
              </a:rPr>
              <a:t>Compiles cleanly in ~1.16s into optimized, tree-shaken static bundles.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17904"/>
            <a:ext cx="30175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3EA6FF"/>
                </a:solidFill>
              </a:defRPr>
            </a:pPr>
            <a:r>
              <a:t>Hooks Lifecycle Layer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useState &amp; useEffect: </a:t>
            </a:r>
            <a:r>
              <a:rPr sz="1200">
                <a:solidFill>
                  <a:srgbClr val="CDD2DC"/>
                </a:solidFill>
              </a:rPr>
              <a:t>Controlled inputs, mount lifecycle triggers, and document title synchronization.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useRef Hook: </a:t>
            </a:r>
            <a:r>
              <a:rPr sz="1200">
                <a:solidFill>
                  <a:srgbClr val="CDD2DC"/>
                </a:solidFill>
              </a:rPr>
              <a:t>Mutable non-rendering container for DOM focus control and debounced listeners.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useParams &amp; useNavigate: </a:t>
            </a:r>
            <a:r>
              <a:rPr sz="1200">
                <a:solidFill>
                  <a:srgbClr val="CDD2DC"/>
                </a:solidFill>
              </a:rPr>
              <a:t>URL parameter extraction and programmatic navigation without page reloads.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useMemo Optimization: </a:t>
            </a:r>
            <a:r>
              <a:rPr sz="1200">
                <a:solidFill>
                  <a:srgbClr val="CDD2DC"/>
                </a:solidFill>
              </a:rPr>
              <a:t>Cached search and category filtering reducing re-render cost.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17904"/>
            <a:ext cx="30175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2BA640"/>
                </a:solidFill>
              </a:defRPr>
            </a:pPr>
            <a:r>
              <a:t>State &amp; Notification Bus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Context API: </a:t>
            </a:r>
            <a:r>
              <a:rPr sz="1200">
                <a:solidFill>
                  <a:srgbClr val="CDD2DC"/>
                </a:solidFill>
              </a:rPr>
              <a:t>Shared application state for library, history, subscriptions, and auth.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Browser LocalStorage: </a:t>
            </a:r>
            <a:r>
              <a:rPr sz="1200">
                <a:solidFill>
                  <a:srgbClr val="CDD2DC"/>
                </a:solidFill>
              </a:rPr>
              <a:t>Client-side JSON persistence ensuring data survives page refreshes.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react-toastify: </a:t>
            </a:r>
            <a:r>
              <a:rPr sz="1200">
                <a:solidFill>
                  <a:srgbClr val="CDD2DC"/>
                </a:solidFill>
              </a:rPr>
              <a:t>Non-blocking alert toasts recommended by course supervisor Mr. Shubham Kumar.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Web Speech API: </a:t>
            </a:r>
            <a:r>
              <a:rPr sz="1200">
                <a:solidFill>
                  <a:srgbClr val="CDD2DC"/>
                </a:solidFill>
              </a:rPr>
              <a:t>Native speech-to-text microphone integration for hands-free voice search.</a:t>
            </a:r>
          </a:p>
        </p:txBody>
      </p:sp>
    </p:spTree>
  </p:cSld>
  <p:clrMapOvr>
    <a:masterClrMapping/>
  </p:clrMapOvr>
  <p:transition spd="fast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Core Component Architecture &amp; Modularity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17904"/>
            <a:ext cx="48463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3EA6FF"/>
                </a:solidFill>
              </a:defRPr>
            </a:pPr>
            <a:r>
              <a:t>Component Hierarchy &amp; Responsibility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&lt;AppProvider&gt; (Root Context): </a:t>
            </a:r>
            <a:r>
              <a:rPr sz="1200">
                <a:solidFill>
                  <a:srgbClr val="CDD2DC"/>
                </a:solidFill>
              </a:rPr>
              <a:t>Houses global state slices, reducer actions, and localStorage side effects.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&lt;Navbar&gt;: </a:t>
            </a:r>
            <a:r>
              <a:rPr sz="1200">
                <a:solidFill>
                  <a:srgbClr val="CDD2DC"/>
                </a:solidFill>
              </a:rPr>
              <a:t>Independent search bar with live auto-complete dropdown, voice trigger, and auth modal.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&lt;Sidebar&gt; &amp; &lt;CategoryChips&gt;: </a:t>
            </a:r>
            <a:r>
              <a:rPr sz="1200">
                <a:solidFill>
                  <a:srgbClr val="CDD2DC"/>
                </a:solidFill>
              </a:rPr>
              <a:t>Two-way bound navigation and category filtering driving video feeds.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&lt;VideoCard&gt; &amp; &lt;ShortsCard&gt;: </a:t>
            </a:r>
            <a:r>
              <a:rPr sz="1200">
                <a:solidFill>
                  <a:srgbClr val="CDD2DC"/>
                </a:solidFill>
              </a:rPr>
              <a:t>Pure presentation components passing IDs to dynamic watch routes via navigate hooks.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&lt;WatchPage&gt;: </a:t>
            </a:r>
            <a:r>
              <a:rPr sz="1200">
                <a:solidFill>
                  <a:srgbClr val="CDD2DC"/>
                </a:solidFill>
              </a:rPr>
              <a:t>Master composite page integrating video player, channel actions, comments feed, and recommended sidebar.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&lt;ProtectedRoute&gt;: </a:t>
            </a:r>
            <a:r>
              <a:rPr sz="1200">
                <a:solidFill>
                  <a:srgbClr val="CDD2DC"/>
                </a:solidFill>
              </a:rPr>
              <a:t>Security boundary wrapping authenticated pages to prevent guest data leaks.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17904"/>
            <a:ext cx="48463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FF0033"/>
                </a:solidFill>
              </a:defRPr>
            </a:pPr>
            <a:r>
              <a:t>Data Flow &amp; Isolation Architecture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Unidirectional Data Flow: </a:t>
            </a:r>
            <a:r>
              <a:rPr sz="1200">
                <a:solidFill>
                  <a:srgbClr val="CDD2DC"/>
                </a:solidFill>
              </a:rPr>
              <a:t>Context state descends via hooks; child actions bubble up via context methods (toggleLike, addComment).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Prop-Drilling Elimination: </a:t>
            </a:r>
            <a:r>
              <a:rPr sz="1200">
                <a:solidFill>
                  <a:srgbClr val="CDD2DC"/>
                </a:solidFill>
              </a:rPr>
              <a:t>WatchPage, Navbar, and Sidebar independently consume useApp() without intermediary props.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Modular Route Segregation: </a:t>
            </a:r>
            <a:r>
              <a:rPr sz="1200">
                <a:solidFill>
                  <a:srgbClr val="CDD2DC"/>
                </a:solidFill>
              </a:rPr>
              <a:t>Distinct routes for /, /watch/:id, /shorts, /history, /liked, /watch-later, and /subscriptions.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Authentication Modal Isolation: </a:t>
            </a:r>
            <a:r>
              <a:rPr sz="1200">
                <a:solidFill>
                  <a:srgbClr val="CDD2DC"/>
                </a:solidFill>
              </a:rPr>
              <a:t>Client-side auth popup controlled by Context state, avoiding parent re-renders.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Clean Build Output: </a:t>
            </a:r>
            <a:r>
              <a:rPr sz="1200">
                <a:solidFill>
                  <a:srgbClr val="CDD2DC"/>
                </a:solidFill>
              </a:rPr>
              <a:t>Zero linter warnings, strictly typed SVG icons via react-icons/md and react-icons/si.</a:t>
            </a:r>
          </a:p>
        </p:txBody>
      </p:sp>
    </p:spTree>
  </p:cSld>
  <p:clrMapOvr>
    <a:masterClrMapping/>
  </p:clrMapOvr>
  <p:transition spd="fast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Dynamic Watch Route &amp; Embedded Video Engine (/watch/:id)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6692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17904"/>
            <a:ext cx="53035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FF0033"/>
                </a:solidFill>
              </a:defRPr>
            </a:pPr>
            <a:r>
              <a:t>Dynamic Routing &amp; Streaming Player Engine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URL Parameter Extraction: </a:t>
            </a:r>
            <a:r>
              <a:rPr sz="1200">
                <a:solidFill>
                  <a:srgbClr val="CDD2DC"/>
                </a:solidFill>
              </a:rPr>
              <a:t>const { id } = useParams() extracts video ID from route wildcard without page reload.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16:9 Streaming Player: </a:t>
            </a:r>
            <a:r>
              <a:rPr sz="1200">
                <a:solidFill>
                  <a:srgbClr val="CDD2DC"/>
                </a:solidFill>
              </a:rPr>
              <a:t>Embeds verified YouTube streams with autoplay, picture-in-picture, and fullscreen controls.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Up-Next Recommendation Engine: </a:t>
            </a:r>
            <a:r>
              <a:rPr sz="1200">
                <a:solidFill>
                  <a:srgbClr val="CDD2DC"/>
                </a:solidFill>
              </a:rPr>
              <a:t>Right-column queue filtered dynamically by category; clicking swaps video via useNavigate().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Auto-Scroll on Video Change: </a:t>
            </a:r>
            <a:r>
              <a:rPr sz="1200">
                <a:solidFill>
                  <a:srgbClr val="CDD2DC"/>
                </a:solidFill>
              </a:rPr>
              <a:t>window.scrollTo(0, 0) automatically triggers in useEffect when video ID updates.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Persistent Watch History: </a:t>
            </a:r>
            <a:r>
              <a:rPr sz="1200">
                <a:solidFill>
                  <a:srgbClr val="CDD2DC"/>
                </a:solidFill>
              </a:rPr>
              <a:t>Navigating to a video automatically appends it to persistent history in localStorage.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Interactive Action Bar: </a:t>
            </a:r>
            <a:r>
              <a:rPr sz="1200">
                <a:solidFill>
                  <a:srgbClr val="CDD2DC"/>
                </a:solidFill>
              </a:rPr>
              <a:t>Like counter toggle, Watch Later bookmarking, and native share dialog integration.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371600"/>
            <a:ext cx="47548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aiaurcode_react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206240" cy="23591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9440" y="4160520"/>
            <a:ext cx="4206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3EA6FF"/>
                </a:solidFill>
              </a:defRPr>
            </a:pPr>
            <a:r>
              <a:t>In-App Watch Engine Live Preview</a:t>
            </a:r>
          </a:p>
          <a:p>
            <a:pPr>
              <a:defRPr sz="1200">
                <a:solidFill>
                  <a:srgbClr val="CDD2DC"/>
                </a:solidFill>
              </a:defRPr>
            </a:pPr>
            <a:r>
              <a:t>Features dynamic /watch/:id route, channel action pill bar (Like, Watch Later, Share), interactive comments, and synchronized Up-Next queue.</a:t>
            </a:r>
          </a:p>
        </p:txBody>
      </p:sp>
    </p:spTree>
  </p:cSld>
  <p:clrMapOvr>
    <a:masterClrMapping/>
  </p:clrMapOvr>
  <p:transition spd="fast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Interactive Comments System with useRef &amp; Dynamic Sorting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6692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17904"/>
            <a:ext cx="53035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3EA6FF"/>
                </a:solidFill>
              </a:defRPr>
            </a:pPr>
            <a:r>
              <a:t>Targeted DOM Control &amp; Comment Architecture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DOM Referencing via useRef: </a:t>
            </a:r>
            <a:r>
              <a:rPr sz="1200">
                <a:solidFill>
                  <a:srgbClr val="CDD2DC"/>
                </a:solidFill>
              </a:rPr>
              <a:t>Initialized as commentInputRef = useRef(null) and directly attached to the comment text field.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Programmatic Focus: </a:t>
            </a:r>
            <a:r>
              <a:rPr sz="1200">
                <a:solidFill>
                  <a:srgbClr val="CDD2DC"/>
                </a:solidFill>
              </a:rPr>
              <a:t>Calling commentInputRef.current?.focus() draws immediate user focus without re-rendering the tree.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Isolated Video Comment Threads: </a:t>
            </a:r>
            <a:r>
              <a:rPr sz="1200">
                <a:solidFill>
                  <a:srgbClr val="CDD2DC"/>
                </a:solidFill>
              </a:rPr>
              <a:t>Comments stored by video ID in state dictionary: comments[videoId] = [...].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Dynamic Sorting Engine: </a:t>
            </a:r>
            <a:r>
              <a:rPr sz="1200">
                <a:solidFill>
                  <a:srgbClr val="CDD2DC"/>
                </a:solidFill>
              </a:rPr>
              <a:t>Instant sorting toggle between Top Comments (by upvotes) and Newest (chronological).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Optimistic Submissions: </a:t>
            </a:r>
            <a:r>
              <a:rPr sz="1200">
                <a:solidFill>
                  <a:srgbClr val="CDD2DC"/>
                </a:solidFill>
              </a:rPr>
              <a:t>Comments post instantly with 'Just now' timestamp and serialize to browser localStorage.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Responsive Feedback: </a:t>
            </a:r>
            <a:r>
              <a:rPr sz="1200">
                <a:solidFill>
                  <a:srgbClr val="CDD2DC"/>
                </a:solidFill>
              </a:rPr>
              <a:t>Integrated upvote toggles and user avatar attribution with active user session.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371600"/>
            <a:ext cx="47548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atent_ep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5512" y="1600200"/>
            <a:ext cx="3108960" cy="2331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9440" y="4160520"/>
            <a:ext cx="4206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F0033"/>
                </a:solidFill>
              </a:defRPr>
            </a:pPr>
            <a:r>
              <a:t>Interactive Comments &amp; Discussion</a:t>
            </a:r>
          </a:p>
          <a:p>
            <a:pPr>
              <a:defRPr sz="1200">
                <a:solidFill>
                  <a:srgbClr val="CDD2DC"/>
                </a:solidFill>
              </a:defRPr>
            </a:pPr>
            <a:r>
              <a:t>Shows live comment count, controlled text input, cancel/submit buttons, upvote counters, and dynamic user avatar feedback.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Protected Routing &amp; Auth Guard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17904"/>
            <a:ext cx="30175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FF0033"/>
                </a:solidFill>
              </a:defRPr>
            </a:pPr>
            <a:r>
              <a:t>Classroom Pattern Aligned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Instructor Implementation: </a:t>
            </a:r>
            <a:r>
              <a:rPr sz="1200">
                <a:solidFill>
                  <a:srgbClr val="CDD2DC"/>
                </a:solidFill>
              </a:rPr>
              <a:t>Adopts Mr. Shubham Kumar's ProtectedRoute architecture from G15-updated repository.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Higher-Order Wrapper: </a:t>
            </a:r>
            <a:r>
              <a:rPr sz="1200">
                <a:solidFill>
                  <a:srgbClr val="CDD2DC"/>
                </a:solidFill>
              </a:rPr>
              <a:t>Encapsulates protected page components as children (&lt;ProtectedRoute&gt;&lt;Subscriptions /&gt;&lt;/ProtectedRoute&gt;).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Single Responsibility: </a:t>
            </a:r>
            <a:r>
              <a:rPr sz="1200">
                <a:solidFill>
                  <a:srgbClr val="CDD2DC"/>
                </a:solidFill>
              </a:rPr>
              <a:t>Keeps route security logic isolated from individual page components.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17904"/>
            <a:ext cx="30175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3EA6FF"/>
                </a:solidFill>
              </a:defRPr>
            </a:pPr>
            <a:r>
              <a:t>Guarded Route Registry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Private User Feeds: </a:t>
            </a:r>
            <a:r>
              <a:rPr sz="1200">
                <a:solidFill>
                  <a:srgbClr val="CDD2DC"/>
                </a:solidFill>
              </a:rPr>
              <a:t>Protects /subscriptions, /history, /liked, /watch-later, /playlists, and /my-uploads.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Public Access: </a:t>
            </a:r>
            <a:r>
              <a:rPr sz="1200">
                <a:solidFill>
                  <a:srgbClr val="CDD2DC"/>
                </a:solidFill>
              </a:rPr>
              <a:t>Home (/), Watch (/watch/:id), Shorts (/shorts), and Channels remain publicly accessible.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Evaluates currentUser: </a:t>
            </a:r>
            <a:r>
              <a:rPr sz="1200">
                <a:solidFill>
                  <a:srgbClr val="CDD2DC"/>
                </a:solidFill>
              </a:rPr>
              <a:t>Inspects currentUser.isLoggedIn flag from global AppContext on route change.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17904"/>
            <a:ext cx="30175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2BA640"/>
                </a:solidFill>
              </a:defRPr>
            </a:pPr>
            <a:r>
              <a:t>Authentic YouTube Lock Screen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Unauthenticated View: </a:t>
            </a:r>
            <a:r>
              <a:rPr sz="1200">
                <a:solidFill>
                  <a:srgbClr val="CDD2DC"/>
                </a:solidFill>
              </a:rPr>
              <a:t>Displays lock icon badge with informative title explaining why login is required.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One-Click Auth Trigger: </a:t>
            </a:r>
            <a:r>
              <a:rPr sz="1200">
                <a:solidFill>
                  <a:srgbClr val="CDD2DC"/>
                </a:solidFill>
              </a:rPr>
              <a:t>'Sign In / Register' button directly opens the interactive AuthModal.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Zero Flashing: </a:t>
            </a:r>
            <a:r>
              <a:rPr sz="1200">
                <a:solidFill>
                  <a:srgbClr val="CDD2DC"/>
                </a:solidFill>
              </a:rPr>
              <a:t>Evaluates auth state synchronously from localStorage cache, eliminating blank page flickers.</a:t>
            </a:r>
          </a:p>
        </p:txBody>
      </p:sp>
    </p:spTree>
  </p:cSld>
  <p:clrMapOvr>
    <a:masterClrMapping/>
  </p:clrMapOvr>
  <p:transition spd="fast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Infinite Scroll Feed Architecture (react-infinite-scroll)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17904"/>
            <a:ext cx="30175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3EA6FF"/>
                </a:solidFill>
              </a:defRPr>
            </a:pPr>
            <a:r>
              <a:t>Motivation &amp; Modern UX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Syllabus Alignment: </a:t>
            </a:r>
            <a:r>
              <a:rPr sz="1200">
                <a:solidFill>
                  <a:srgbClr val="CDD2DC"/>
                </a:solidFill>
              </a:rPr>
              <a:t>Directly implements react-infinite-scroll-component taught in G15 ecom lectures.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Eliminates Pagination: </a:t>
            </a:r>
            <a:r>
              <a:rPr sz="1200">
                <a:solidFill>
                  <a:srgbClr val="CDD2DC"/>
                </a:solidFill>
              </a:rPr>
              <a:t>Replaces clunky 'Page 1, 2, 3' pagination with continuous, frictionless content discovery.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Memory Optimization: </a:t>
            </a:r>
            <a:r>
              <a:rPr sz="1200">
                <a:solidFill>
                  <a:srgbClr val="CDD2DC"/>
                </a:solidFill>
              </a:rPr>
              <a:t>Slices dataset into progressive chunks, keeping initial DOM rendering lightweight.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17904"/>
            <a:ext cx="30175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FF0033"/>
                </a:solidFill>
              </a:defRPr>
            </a:pPr>
            <a:r>
              <a:t>State &amp; Slicing Mechanics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Batch Management: </a:t>
            </a:r>
            <a:r>
              <a:rPr sz="1200">
                <a:solidFill>
                  <a:srgbClr val="CDD2DC"/>
                </a:solidFill>
              </a:rPr>
              <a:t>Initial batch renders 8 videos; subsequent scrolls load 6 additional items progressively.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hasMore Calculation: </a:t>
            </a:r>
            <a:r>
              <a:rPr sz="1200">
                <a:solidFill>
                  <a:srgbClr val="CDD2DC"/>
                </a:solidFill>
              </a:rPr>
              <a:t>Calculates displayedVideos.length &lt; filteredVideos.length dynamically.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Filter Reactivity: </a:t>
            </a:r>
            <a:r>
              <a:rPr sz="1200">
                <a:solidFill>
                  <a:srgbClr val="CDD2DC"/>
                </a:solidFill>
              </a:rPr>
              <a:t>Automatically resets scroll index back to 8 whenever a category chip or search query changes.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17904"/>
            <a:ext cx="30175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2BA640"/>
                </a:solidFill>
              </a:defRPr>
            </a:pPr>
            <a:r>
              <a:t>Visual Feedback &amp; Indicators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YouTube-Themed Spinner: </a:t>
            </a:r>
            <a:r>
              <a:rPr sz="1200">
                <a:solidFill>
                  <a:srgbClr val="CDD2DC"/>
                </a:solidFill>
              </a:rPr>
              <a:t>Custom CSS circular loading indicator (.infinite-spinner) centered below feed.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End-of-Feed Confirmation: </a:t>
            </a:r>
            <a:r>
              <a:rPr sz="1200">
                <a:solidFill>
                  <a:srgbClr val="CDD2DC"/>
                </a:solidFill>
              </a:rPr>
              <a:t>Displays polite checkmark notice ('All N videos loaded') once complete.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Zero Nested Overflow: </a:t>
            </a:r>
            <a:r>
              <a:rPr sz="1200">
                <a:solidFill>
                  <a:srgbClr val="CDD2DC"/>
                </a:solidFill>
              </a:rPr>
              <a:t>Configured with overflow: visible to integrate cleanly with main layout scroll.</a:t>
            </a:r>
          </a:p>
        </p:txBody>
      </p:sp>
    </p:spTree>
  </p:cSld>
  <p:clrMapOvr>
    <a:masterClrMapping/>
  </p:clrMapOvr>
  <p:transition spd="fast">
    <p:push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YouTube Data API v3 &amp; Resilient Fallback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17904"/>
            <a:ext cx="30175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FF0033"/>
                </a:solidFill>
              </a:defRPr>
            </a:pPr>
            <a:r>
              <a:t>Google Cloud Integration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API v3 Endpoints: </a:t>
            </a:r>
            <a:r>
              <a:rPr sz="1200">
                <a:solidFill>
                  <a:srgbClr val="CDD2DC"/>
                </a:solidFill>
              </a:rPr>
              <a:t>Connects to https://www.googleapis.com/youtube/v3/search and /videos endpoints.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Live Metadata Fetching: </a:t>
            </a:r>
            <a:r>
              <a:rPr sz="1200">
                <a:solidFill>
                  <a:srgbClr val="CDD2DC"/>
                </a:solidFill>
              </a:rPr>
              <a:t>Fetches real video IDs, durations (PT15M33S parsed), view statistics, and channel art.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Dynamic Search Topics: </a:t>
            </a:r>
            <a:r>
              <a:rPr sz="1200">
                <a:solidFill>
                  <a:srgbClr val="CDD2DC"/>
                </a:solidFill>
              </a:rPr>
              <a:t>Allows fetching custom live topics (e.g., 'React 19', 'Latent', 'Gaming') on demand.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17904"/>
            <a:ext cx="30175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3EA6FF"/>
                </a:solidFill>
              </a:defRPr>
            </a:pPr>
            <a:r>
              <a:t>Resilient Curated Fallback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Zero-Crash Guarantee: </a:t>
            </a:r>
            <a:r>
              <a:rPr sz="1200">
                <a:solidFill>
                  <a:srgbClr val="CDD2DC"/>
                </a:solidFill>
              </a:rPr>
              <a:t>Prevents broken evaluations if Google's daily quota (10,000 units) is exhausted.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Instant Offline Mode: </a:t>
            </a:r>
            <a:r>
              <a:rPr sz="1200">
                <a:solidFill>
                  <a:srgbClr val="CDD2DC"/>
                </a:solidFill>
              </a:rPr>
              <a:t>Gracefully falls back to high-quality local curated dataset if no API key is supplied.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Deterministic Viva Demo: </a:t>
            </a:r>
            <a:r>
              <a:rPr sz="1200">
                <a:solidFill>
                  <a:srgbClr val="CDD2DC"/>
                </a:solidFill>
              </a:rPr>
              <a:t>Guarantees full functionality during live classroom evaluation without WiFi hiccups.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17904"/>
            <a:ext cx="30175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A855F7"/>
                </a:solidFill>
              </a:defRPr>
            </a:pPr>
            <a:r>
              <a:t>Live Demo Controls in Settings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A855F7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Settings Integration: </a:t>
            </a:r>
            <a:r>
              <a:rPr sz="1200">
                <a:solidFill>
                  <a:srgbClr val="CDD2DC"/>
                </a:solidFill>
              </a:rPr>
              <a:t>Dedicated YouTube API card in SettingsModal with API Key input and save state.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A855F7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Connection Test Button: </a:t>
            </a:r>
            <a:r>
              <a:rPr sz="1200">
                <a:solidFill>
                  <a:srgbClr val="CDD2DC"/>
                </a:solidFill>
              </a:rPr>
              <a:t>'Fetch Live' button triggers immediate asynchronous API query with toast alerts.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A855F7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Live Badge Indicator: </a:t>
            </a:r>
            <a:r>
              <a:rPr sz="1200">
                <a:solidFill>
                  <a:srgbClr val="CDD2DC"/>
                </a:solidFill>
              </a:rPr>
              <a:t>Displays green '● Live API Ready' or gray '○ Curated Mode' status.</a:t>
            </a:r>
          </a:p>
        </p:txBody>
      </p:sp>
    </p:spTree>
  </p:cSld>
  <p:clrMapOvr>
    <a:masterClrMapping/>
  </p:clrMapOvr>
  <p:transition spd="fast">
    <p:push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Creator Ecosystem &amp; Subscribed Channels Grid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310896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17904"/>
            <a:ext cx="3017520" cy="28163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FF0033"/>
                </a:solidFill>
              </a:defRPr>
            </a:pPr>
            <a:r>
              <a:t>Entertainment &amp; Music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MrBeast: </a:t>
            </a:r>
            <a:r>
              <a:rPr sz="1200">
                <a:solidFill>
                  <a:srgbClr val="CDD2DC"/>
                </a:solidFill>
              </a:rPr>
              <a:t>522M subscribers — World's #1 creator; features 7-Days Stranded challenges.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T-Series: </a:t>
            </a:r>
            <a:r>
              <a:rPr sz="1200">
                <a:solidFill>
                  <a:srgbClr val="CDD2DC"/>
                </a:solidFill>
              </a:rPr>
              <a:t>316M subscribers — Leading Indian music label with viral movie soundtracks.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Techno Gamerz: </a:t>
            </a:r>
            <a:r>
              <a:rPr sz="1200">
                <a:solidFill>
                  <a:srgbClr val="CDD2DC"/>
                </a:solidFill>
              </a:rPr>
              <a:t>53.4M subscribers — India's gaming icon; features GTA 5 and Minecraft series.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310896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17904"/>
            <a:ext cx="3017520" cy="28163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3EA6FF"/>
                </a:solidFill>
              </a:defRPr>
            </a:pPr>
            <a:r>
              <a:t>Comedy &amp; Specialized Gaming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Samay Raina: </a:t>
            </a:r>
            <a:r>
              <a:rPr sz="1200">
                <a:solidFill>
                  <a:srgbClr val="CDD2DC"/>
                </a:solidFill>
              </a:rPr>
              <a:t>7.65M subscribers — Standup comedy &amp; India's Got Latent episodes.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Wemmbu: </a:t>
            </a:r>
            <a:r>
              <a:rPr sz="1200">
                <a:solidFill>
                  <a:srgbClr val="CDD2DC"/>
                </a:solidFill>
              </a:rPr>
              <a:t>3.45M subscribers — Hardcore Minecraft survival and trap build walkthroughs.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Nikhil Kamath: </a:t>
            </a:r>
            <a:r>
              <a:rPr sz="1200">
                <a:solidFill>
                  <a:srgbClr val="CDD2DC"/>
                </a:solidFill>
              </a:rPr>
              <a:t>Flagship business &amp; startup podcast WTF with verified founders.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310896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17904"/>
            <a:ext cx="3017520" cy="28163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2BA640"/>
                </a:solidFill>
              </a:defRPr>
            </a:pPr>
            <a:r>
              <a:t>Developer Education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freeCodeCamp.org: </a:t>
            </a:r>
            <a:r>
              <a:rPr sz="1200">
                <a:solidFill>
                  <a:srgbClr val="CDD2DC"/>
                </a:solidFill>
              </a:rPr>
              <a:t>12.0M subscribers — Comprehensive 10-Hour DSA masterclass.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Chai aur Code: </a:t>
            </a:r>
            <a:r>
              <a:rPr sz="1200">
                <a:solidFill>
                  <a:srgbClr val="CDD2DC"/>
                </a:solidFill>
              </a:rPr>
              <a:t>645K subscribers — Hindi developer education and React 19 series.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Verified Community: </a:t>
            </a:r>
            <a:r>
              <a:rPr sz="1200">
                <a:solidFill>
                  <a:srgbClr val="CDD2DC"/>
                </a:solidFill>
              </a:rPr>
              <a:t>All channels feature verified checkmarks and custom popular banners.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728655" cy="137160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rbea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4892040"/>
            <a:ext cx="703385" cy="685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4956048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FFFFF"/>
                </a:solidFill>
              </a:defRPr>
            </a:pPr>
            <a:r>
              <a:t>MrBeast (522M)</a:t>
            </a:r>
          </a:p>
        </p:txBody>
      </p:sp>
      <p:pic>
        <p:nvPicPr>
          <p:cNvPr id="16" name="Picture 15" descr="samay_ra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4892040"/>
            <a:ext cx="685800" cy="685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17720" y="4956048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FFFFF"/>
                </a:solidFill>
              </a:defRPr>
            </a:pPr>
            <a:r>
              <a:t>Samay Raina (7.65M)</a:t>
            </a:r>
          </a:p>
        </p:txBody>
      </p:sp>
      <p:pic>
        <p:nvPicPr>
          <p:cNvPr id="18" name="Picture 17" descr="techno_gamer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4892040"/>
            <a:ext cx="764574" cy="685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920" y="4956048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FFFFF"/>
                </a:solidFill>
              </a:defRPr>
            </a:pPr>
            <a:r>
              <a:t>Techno Gamerz (53.4M)</a:t>
            </a:r>
          </a:p>
        </p:txBody>
      </p:sp>
      <p:pic>
        <p:nvPicPr>
          <p:cNvPr id="20" name="Picture 19" descr="chaiaurcod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4892040"/>
            <a:ext cx="685800" cy="685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104119" y="4956048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FFFFF"/>
                </a:solidFill>
              </a:defRPr>
            </a:pPr>
            <a:r>
              <a:t>Chai aur Code (645K)</a:t>
            </a:r>
          </a:p>
        </p:txBody>
      </p:sp>
    </p:spTree>
  </p:cSld>
  <p:clrMapOvr>
    <a:masterClrMapping/>
  </p:clrMapOvr>
  <p:transition spd="fast">
    <p:push dir="l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Multi-Device Responsive Design &amp; Modern UI/UX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6692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17904"/>
            <a:ext cx="53035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FF0033"/>
                </a:solidFill>
              </a:defRPr>
            </a:pPr>
            <a:r>
              <a:t>Responsive Breakpoints &amp; UX Architecture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Desktop (&gt;1150px): </a:t>
            </a:r>
            <a:r>
              <a:rPr sz="1200">
                <a:solidFill>
                  <a:srgbClr val="CDD2DC"/>
                </a:solidFill>
              </a:rPr>
              <a:t>4-column video feed, collapsible full sidebar, dual-column Watch page with queue.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Tablet (1024px iPad Mini): </a:t>
            </a:r>
            <a:r>
              <a:rPr sz="1200">
                <a:solidFill>
                  <a:srgbClr val="CDD2DC"/>
                </a:solidFill>
              </a:rPr>
              <a:t>Solved horizontal cutoff with calc(100% - 72px) max-width boundary and 3-column auto-fit grid.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Mobile (&lt;480px): </a:t>
            </a:r>
            <a:r>
              <a:rPr sz="1200">
                <a:solidFill>
                  <a:srgbClr val="CDD2DC"/>
                </a:solidFill>
              </a:rPr>
              <a:t>Single column full-bleed cards, bottom navigation parity, full-width video player.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Subscribed Channels Grid: </a:t>
            </a:r>
            <a:r>
              <a:rPr sz="1200">
                <a:solidFill>
                  <a:srgbClr val="CDD2DC"/>
                </a:solidFill>
              </a:rPr>
              <a:t>Prominent 72px creator cards with active creator dot and 1-click unsubscribe toggle.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Live Search Autocomplete: </a:t>
            </a:r>
            <a:r>
              <a:rPr sz="1200">
                <a:solidFill>
                  <a:srgbClr val="CDD2DC"/>
                </a:solidFill>
              </a:rPr>
              <a:t>Instant substring matching with floating dropdown and direct video routing.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Native Voice Search: </a:t>
            </a:r>
            <a:r>
              <a:rPr sz="1200">
                <a:solidFill>
                  <a:srgbClr val="CDD2DC"/>
                </a:solidFill>
              </a:rPr>
              <a:t>Web Speech API microphone integration converting voice input directly to search queries.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371600"/>
            <a:ext cx="47548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ui_search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1" y="1600200"/>
            <a:ext cx="2494398" cy="2331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9440" y="4160520"/>
            <a:ext cx="4206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3EA6FF"/>
                </a:solidFill>
              </a:defRPr>
            </a:pPr>
            <a:r>
              <a:t>Live Search &amp; Suggestion Overlay</a:t>
            </a:r>
          </a:p>
          <a:p>
            <a:pPr>
              <a:defRPr sz="1200">
                <a:solidFill>
                  <a:srgbClr val="CDD2DC"/>
                </a:solidFill>
              </a:defRPr>
            </a:pPr>
            <a:r>
              <a:t>Features real-time autocomplete suggestion cards with creator subtitles, clear button, and voice recognition pulse indicator.</a:t>
            </a:r>
          </a:p>
        </p:txBody>
      </p:sp>
    </p:spTree>
  </p:cSld>
  <p:clrMapOvr>
    <a:masterClrMapping/>
  </p:clrMapOvr>
  <p:transition spd="fast">
    <p:push dir="l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Technical Roadmap &amp; Scope for Phase 3 (MERN Stack)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17904"/>
            <a:ext cx="30175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FF0033"/>
                </a:solidFill>
              </a:defRPr>
            </a:pPr>
            <a:r>
              <a:t>Phase 1: UI Foundation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Visual Layout: </a:t>
            </a:r>
            <a:r>
              <a:rPr sz="1200">
                <a:solidFill>
                  <a:srgbClr val="CDD2DC"/>
                </a:solidFill>
              </a:rPr>
              <a:t>Dark obsidian theme layout, YouTube visual branding, and icon system.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Video &amp; Shorts Grid: </a:t>
            </a:r>
            <a:r>
              <a:rPr sz="1200">
                <a:solidFill>
                  <a:srgbClr val="CDD2DC"/>
                </a:solidFill>
              </a:rPr>
              <a:t>Multi-category filtering chips and responsive card layout.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Navigation: </a:t>
            </a:r>
            <a:r>
              <a:rPr sz="1200">
                <a:solidFill>
                  <a:srgbClr val="CDD2DC"/>
                </a:solidFill>
              </a:rPr>
              <a:t>Collapsible sidebar navigation tabs and search query input.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17904"/>
            <a:ext cx="30175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3EA6FF"/>
                </a:solidFill>
              </a:defRPr>
            </a:pPr>
            <a:r>
              <a:t>Phase 2: SPA (Completed)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Dynamic Route: </a:t>
            </a:r>
            <a:r>
              <a:rPr sz="1200">
                <a:solidFill>
                  <a:srgbClr val="CDD2DC"/>
                </a:solidFill>
              </a:rPr>
              <a:t>/watch/:id via useParams with embedded 16:9 streaming.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Security: </a:t>
            </a:r>
            <a:r>
              <a:rPr sz="1200">
                <a:solidFill>
                  <a:srgbClr val="CDD2DC"/>
                </a:solidFill>
              </a:rPr>
              <a:t>Protected routing guarding user library and history.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Performance: </a:t>
            </a:r>
            <a:r>
              <a:rPr sz="1200">
                <a:solidFill>
                  <a:srgbClr val="CDD2DC"/>
                </a:solidFill>
              </a:rPr>
              <a:t>Infinite scroll pagination with react-infinite-scroll-component.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EA6FF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Dual Integration: </a:t>
            </a:r>
            <a:r>
              <a:rPr sz="1200">
                <a:solidFill>
                  <a:srgbClr val="CDD2DC"/>
                </a:solidFill>
              </a:rPr>
              <a:t>YouTube Data API v3 live fetching with offline curated fallback.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17904"/>
            <a:ext cx="30175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2BA640"/>
                </a:solidFill>
              </a:defRPr>
            </a:pPr>
            <a:r>
              <a:t>Phase 3: Full Stack (MERN)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Node.js &amp; Express API: </a:t>
            </a:r>
            <a:r>
              <a:rPr sz="1200">
                <a:solidFill>
                  <a:srgbClr val="CDD2DC"/>
                </a:solidFill>
              </a:rPr>
              <a:t>RESTful backend endpoints replacing client-side localStorage.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MongoDB Database: </a:t>
            </a:r>
            <a:r>
              <a:rPr sz="1200">
                <a:solidFill>
                  <a:srgbClr val="CDD2DC"/>
                </a:solidFill>
              </a:rPr>
              <a:t>Cloud database storing persistent user accounts and video uploads.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JWT Authentication: </a:t>
            </a:r>
            <a:r>
              <a:rPr sz="1200">
                <a:solidFill>
                  <a:srgbClr val="CDD2DC"/>
                </a:solidFill>
              </a:rPr>
              <a:t>Secure JSON Web Tokens replacing client-side session mockup.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Redux Toolkit: </a:t>
            </a:r>
            <a:r>
              <a:rPr sz="1200">
                <a:solidFill>
                  <a:srgbClr val="CDD2DC"/>
                </a:solidFill>
              </a:rPr>
              <a:t>Global state migration to RTK as taught in advanced FEE lectures.</a:t>
            </a:r>
          </a:p>
        </p:txBody>
      </p:sp>
    </p:spTree>
  </p:cSld>
  <p:clrMapOvr>
    <a:masterClrMapping/>
  </p:clrMapOvr>
  <p:transition spd="fast">
    <p:push dir="l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Summary, Live Demonstration &amp; Viva Readiness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17904"/>
            <a:ext cx="48463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FF0033"/>
                </a:solidFill>
              </a:defRPr>
            </a:pPr>
            <a:r>
              <a:t>Phase 2 Engineering Achievements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Zero Bounce In-App Streaming: </a:t>
            </a:r>
            <a:r>
              <a:rPr sz="1200">
                <a:solidFill>
                  <a:srgbClr val="CDD2DC"/>
                </a:solidFill>
              </a:rPr>
              <a:t>Fully functional /watch/:id route replacing external YouTube link-outs.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Strategic DOM Control: </a:t>
            </a:r>
            <a:r>
              <a:rPr sz="1200">
                <a:solidFill>
                  <a:srgbClr val="CDD2DC"/>
                </a:solidFill>
              </a:rPr>
              <a:t>useRef applied for auto-focusing comments and smooth scroll transitions.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Security &amp; Route Guarding: </a:t>
            </a:r>
            <a:r>
              <a:rPr sz="1200">
                <a:solidFill>
                  <a:srgbClr val="CDD2DC"/>
                </a:solidFill>
              </a:rPr>
              <a:t>ProtectedRoute wrapper securing private user feeds.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Classroom Alignment: </a:t>
            </a:r>
            <a:r>
              <a:rPr sz="1200">
                <a:solidFill>
                  <a:srgbClr val="CDD2DC"/>
                </a:solidFill>
              </a:rPr>
              <a:t>Infinite scroll (react-infinite-scroll) matching Mr. Shubham Kumar's syllabus.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F0033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Dual API Architecture: </a:t>
            </a:r>
            <a:r>
              <a:rPr sz="1200">
                <a:solidFill>
                  <a:srgbClr val="CDD2DC"/>
                </a:solidFill>
              </a:rPr>
              <a:t>YouTube Data API v3 with offline fallback guarantee.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17904"/>
            <a:ext cx="4846320" cy="44622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2BA640"/>
                </a:solidFill>
              </a:defRPr>
            </a:pPr>
            <a:r>
              <a:t>Live Application Demonstration Highlights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Seamless Navigation: </a:t>
            </a:r>
            <a:r>
              <a:rPr sz="1200">
                <a:solidFill>
                  <a:srgbClr val="CDD2DC"/>
                </a:solidFill>
              </a:rPr>
              <a:t>Instant client-side transitions between Home, Shorts, Watch, and Channels.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Live Demonstration Plan: </a:t>
            </a:r>
            <a:r>
              <a:rPr sz="1200">
                <a:solidFill>
                  <a:srgbClr val="CDD2DC"/>
                </a:solidFill>
              </a:rPr>
              <a:t>Demonstrating Infinite Scroll, Protected Route lock screen, and API toggle.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Multi-Device Adaptability: </a:t>
            </a:r>
            <a:r>
              <a:rPr sz="1200">
                <a:solidFill>
                  <a:srgbClr val="CDD2DC"/>
                </a:solidFill>
              </a:rPr>
              <a:t>Verified across 375px mobile, 1024px iPad Mini, and 1440px desktop screens.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Production Verification: </a:t>
            </a:r>
            <a:r>
              <a:rPr sz="1200">
                <a:solidFill>
                  <a:srgbClr val="CDD2DC"/>
                </a:solidFill>
              </a:rPr>
              <a:t>100% Vite build success (sub-1.2s bundle time) with 0 errors.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BA640"/>
                </a:solidFill>
              </a:rPr>
              <a:t>• </a:t>
            </a:r>
            <a:r>
              <a:rPr b="1" sz="1200">
                <a:solidFill>
                  <a:srgbClr val="FFFFFF"/>
                </a:solidFill>
              </a:rPr>
              <a:t>Viva Defense Readiness: </a:t>
            </a:r>
            <a:r>
              <a:rPr sz="1200">
                <a:solidFill>
                  <a:srgbClr val="CDD2DC"/>
                </a:solidFill>
              </a:rPr>
              <a:t>Team G15 is fully prepared for technical architecture and code defense viva.</a:t>
            </a:r>
          </a:p>
        </p:txBody>
      </p:sp>
    </p:spTree>
  </p:cSld>
  <p:clrMapOvr>
    <a:masterClrMapping/>
  </p:clrMapOvr>
  <p:transition spd="fast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