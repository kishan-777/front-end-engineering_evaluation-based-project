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2865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400"/>
              </a:spcBef>
              <a:defRPr sz="16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400"/>
              </a:spcBef>
              <a:defRPr sz="130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pic>
        <p:nvPicPr>
          <p:cNvPr id="5" name="Picture 4" descr="chitka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822960"/>
            <a:ext cx="5865460" cy="1097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291840"/>
            <a:ext cx="10728655" cy="29260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4572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defRPr sz="1100">
                <a:solidFill>
                  <a:srgbClr val="BEC3CD"/>
                </a:solidFill>
              </a:defRPr>
            </a:pPr>
            <a:r>
              <a:t>Technical Trainer, Department of CSE</a:t>
            </a:r>
          </a:p>
          <a:p>
            <a:pPr>
              <a:defRPr sz="1000">
                <a:solidFill>
                  <a:srgbClr val="8C919B"/>
                </a:solidFill>
              </a:defRPr>
            </a:pPr>
            <a:r>
              <a:t>Chitkara University Institute of Engineering &amp;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566160"/>
            <a:ext cx="4846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400"/>
              </a:spcAft>
              <a:defRPr sz="115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b="1" sz="1200">
                <a:solidFill>
                  <a:srgbClr val="FF0033"/>
                </a:solidFill>
              </a:rPr>
              <a:t>01. </a:t>
            </a:r>
            <a:r>
              <a:rPr sz="1100">
                <a:solidFill>
                  <a:srgbClr val="FFFFFF"/>
                </a:solidFill>
              </a:rPr>
              <a:t>Evaluation-II Vision &amp; Milestone Objectives (Page 03)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FF0033"/>
                </a:solidFill>
              </a:rPr>
              <a:t>02. </a:t>
            </a:r>
            <a:r>
              <a:rPr sz="1100">
                <a:solidFill>
                  <a:srgbClr val="FFFFFF"/>
                </a:solidFill>
              </a:rPr>
              <a:t>Syllabus-Aligned Technology Stack &amp; Architecture (Page 04)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FF0033"/>
                </a:solidFill>
              </a:rPr>
              <a:t>03. </a:t>
            </a:r>
            <a:r>
              <a:rPr sz="1100">
                <a:solidFill>
                  <a:srgbClr val="FFFFFF"/>
                </a:solidFill>
              </a:rPr>
              <a:t>Core Component Architecture &amp; Modularity (Page 05)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FF0033"/>
                </a:solidFill>
              </a:rPr>
              <a:t>04. </a:t>
            </a:r>
            <a:r>
              <a:rPr sz="1100">
                <a:solidFill>
                  <a:srgbClr val="FFFFFF"/>
                </a:solidFill>
              </a:rPr>
              <a:t>Dynamic Watch Route &amp; Embedded Video Engine (/watch/:id) (Page 06)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FF0033"/>
                </a:solidFill>
              </a:rPr>
              <a:t>05. </a:t>
            </a:r>
            <a:r>
              <a:rPr sz="1100">
                <a:solidFill>
                  <a:srgbClr val="FFFFFF"/>
                </a:solidFill>
              </a:rPr>
              <a:t>Interactive Comments System with useRef &amp; Dynamic Sorting (Page 07)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b="1" sz="1200">
                <a:solidFill>
                  <a:srgbClr val="3EA6FF"/>
                </a:solidFill>
              </a:rPr>
              <a:t>06. </a:t>
            </a:r>
            <a:r>
              <a:rPr sz="1100">
                <a:solidFill>
                  <a:srgbClr val="FFFFFF"/>
                </a:solidFill>
              </a:rPr>
              <a:t>Global State Architecture (Context API) &amp; LocalStorage Sync (Page 08)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3EA6FF"/>
                </a:solidFill>
              </a:rPr>
              <a:t>07. </a:t>
            </a:r>
            <a:r>
              <a:rPr sz="1100">
                <a:solidFill>
                  <a:srgbClr val="FFFFFF"/>
                </a:solidFill>
              </a:rPr>
              <a:t>Creator Ecosystem &amp; Exact 2026 YouTube Metrics (Page 09)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3EA6FF"/>
                </a:solidFill>
              </a:rPr>
              <a:t>08. </a:t>
            </a:r>
            <a:r>
              <a:rPr sz="1100">
                <a:solidFill>
                  <a:srgbClr val="FFFFFF"/>
                </a:solidFill>
              </a:rPr>
              <a:t>Multi-Device Responsive Design &amp; Modern UI/UX Layer (Page 10)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3EA6FF"/>
                </a:solidFill>
              </a:rPr>
              <a:t>09. </a:t>
            </a:r>
            <a:r>
              <a:rPr sz="1100">
                <a:solidFill>
                  <a:srgbClr val="FFFFFF"/>
                </a:solidFill>
              </a:rPr>
              <a:t>Curriculum Alignment &amp; Faculty Reference Verification (Page 11)</a:t>
            </a:r>
          </a:p>
          <a:p>
            <a:pPr>
              <a:spcAft>
                <a:spcPts val="1600"/>
              </a:spcAft>
            </a:pPr>
            <a:r>
              <a:rPr b="1" sz="1200">
                <a:solidFill>
                  <a:srgbClr val="3EA6FF"/>
                </a:solidFill>
              </a:rPr>
              <a:t>10. </a:t>
            </a:r>
            <a:r>
              <a:rPr sz="1100">
                <a:solidFill>
                  <a:srgbClr val="FFFFFF"/>
                </a:solidFill>
              </a:rPr>
              <a:t>Technical Roadmap &amp; Scope for Phase 3 (MERN Stack) (Page 12)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Phase 1 Foundation: </a:t>
            </a:r>
            <a:r>
              <a:rPr sz="1000">
                <a:solidFill>
                  <a:srgbClr val="BEC3CD"/>
                </a:solidFill>
              </a:rPr>
              <a:t>Established responsive card grids, category chip filters, and external YouTube link outs.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Phase 2 Transition: </a:t>
            </a:r>
            <a:r>
              <a:rPr sz="1000">
                <a:solidFill>
                  <a:srgbClr val="BEC3CD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Zero Page Reloads: </a:t>
            </a:r>
            <a:r>
              <a:rPr sz="1000">
                <a:solidFill>
                  <a:srgbClr val="BEC3CD"/>
                </a:solidFill>
              </a:rPr>
              <a:t>Client-side routing via React Router DOM ensures instant state reactivity without full-page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Dynamic Watch Route: </a:t>
            </a:r>
            <a:r>
              <a:rPr sz="1000">
                <a:solidFill>
                  <a:srgbClr val="BEC3CD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DOM Control with useRef: </a:t>
            </a:r>
            <a:r>
              <a:rPr sz="1000">
                <a:solidFill>
                  <a:srgbClr val="BEC3CD"/>
                </a:solidFill>
              </a:rPr>
              <a:t>Direct programmatic focus on comment input and auto-scroll viewport control without re-renders.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Global Context API: </a:t>
            </a:r>
            <a:r>
              <a:rPr sz="1000">
                <a:solidFill>
                  <a:srgbClr val="BEC3CD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Up-Next Recommendations: </a:t>
            </a:r>
            <a:r>
              <a:rPr sz="1000">
                <a:solidFill>
                  <a:srgbClr val="BEC3CD"/>
                </a:solidFill>
              </a:rPr>
              <a:t>Dynamic video swapping via useNavigate() with synchronized video metadata.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Interactive Notification Bus: </a:t>
            </a:r>
            <a:r>
              <a:rPr sz="1000">
                <a:solidFill>
                  <a:srgbClr val="BEC3CD"/>
                </a:solidFill>
              </a:rPr>
              <a:t>Integrated react-toastify for instant feedback on user actions.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Responsive Parity: </a:t>
            </a:r>
            <a:r>
              <a:rPr sz="1000">
                <a:solidFill>
                  <a:srgbClr val="BEC3CD"/>
                </a:solidFill>
              </a:rPr>
              <a:t>Seamless scaling across 375px mobile, 768px tablet, and 1440px desktop screens.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React 19 &amp; Routing Architecture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Functional Components: </a:t>
            </a:r>
            <a:r>
              <a:rPr sz="1000">
                <a:solidFill>
                  <a:srgbClr val="BEC3CD"/>
                </a:solidFill>
              </a:rPr>
              <a:t>100% modular, pure functional architecture with explicit hook lifecycles.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React Router DOM v6: </a:t>
            </a:r>
            <a:r>
              <a:rPr sz="1000">
                <a:solidFill>
                  <a:srgbClr val="BEC3CD"/>
                </a:solidFill>
              </a:rPr>
              <a:t>Declarative routing engine featuring parameterized dynamic routes (/watch/:id).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Vite 8 Build Tooling: </a:t>
            </a:r>
            <a:r>
              <a:rPr sz="1000">
                <a:solidFill>
                  <a:srgbClr val="BEC3CD"/>
                </a:solidFill>
              </a:rPr>
              <a:t>Lightning fast ESM bundling delivering sub-350ms hot module replacement (HMR).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Hooks &amp; Memory Lifecycle Layer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useState &amp; useEffect: </a:t>
            </a:r>
            <a:r>
              <a:rPr sz="1000">
                <a:solidFill>
                  <a:srgbClr val="BEC3CD"/>
                </a:solidFill>
              </a:rPr>
              <a:t>Controlled inputs, mount lifecycle triggers, and document title synchronization.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useRef Hook: </a:t>
            </a:r>
            <a:r>
              <a:rPr sz="1000">
                <a:solidFill>
                  <a:srgbClr val="BEC3CD"/>
                </a:solidFill>
              </a:rPr>
              <a:t>Mutable non-rendering container for DOM focus control and debounced listeners.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useParams &amp; useNavigate: </a:t>
            </a:r>
            <a:r>
              <a:rPr sz="1000">
                <a:solidFill>
                  <a:srgbClr val="BEC3CD"/>
                </a:solidFill>
              </a:rPr>
              <a:t>URL parameter extraction and programmatic navigation without page reloads.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State Persistence &amp; UX Bus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Context API (createContext): </a:t>
            </a:r>
            <a:r>
              <a:rPr sz="1000">
                <a:solidFill>
                  <a:srgbClr val="BEC3CD"/>
                </a:solidFill>
              </a:rPr>
              <a:t>Shared application state for library, history, subscriptions, and auth.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Browser LocalStorage: </a:t>
            </a:r>
            <a:r>
              <a:rPr sz="1000">
                <a:solidFill>
                  <a:srgbClr val="BEC3CD"/>
                </a:solidFill>
              </a:rPr>
              <a:t>Client-side JSON persistence ensuring data survives page refreshes and browser restarts.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react-toastify: </a:t>
            </a:r>
            <a:r>
              <a:rPr sz="1000">
                <a:solidFill>
                  <a:srgbClr val="BEC3CD"/>
                </a:solidFill>
              </a:rPr>
              <a:t>Non-blocking alert toasts recommended by course supervisor Mr. Shubham Kumar.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Component Hierarchy &amp; Responsibility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&lt;AppProvider&gt; (Root Context): </a:t>
            </a:r>
            <a:r>
              <a:rPr sz="1000">
                <a:solidFill>
                  <a:srgbClr val="BEC3CD"/>
                </a:solidFill>
              </a:rPr>
              <a:t>Houses global state slices, reducer actions, and localStorage side effects.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&lt;Navbar&gt;: </a:t>
            </a:r>
            <a:r>
              <a:rPr sz="1000">
                <a:solidFill>
                  <a:srgbClr val="BEC3CD"/>
                </a:solidFill>
              </a:rPr>
              <a:t>Independent search bar with live auto-complete dropdown, microphone voice trigger, and auth modal.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&lt;Sidebar&gt; &amp; &lt;CategoryChips&gt;: </a:t>
            </a:r>
            <a:r>
              <a:rPr sz="1000">
                <a:solidFill>
                  <a:srgbClr val="BEC3CD"/>
                </a:solidFill>
              </a:rPr>
              <a:t>Two-way bound navigation and category filtering driving video feeds.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&lt;VideoCard&gt; &amp; &lt;ShortsCard&gt;: </a:t>
            </a:r>
            <a:r>
              <a:rPr sz="1000">
                <a:solidFill>
                  <a:srgbClr val="BEC3CD"/>
                </a:solidFill>
              </a:rPr>
              <a:t>Pure presentation components passing IDs to dynamic watch routes via navigate hooks.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&lt;WatchPage&gt;: </a:t>
            </a:r>
            <a:r>
              <a:rPr sz="1000">
                <a:solidFill>
                  <a:srgbClr val="BEC3CD"/>
                </a:solidFill>
              </a:rPr>
              <a:t>Master composite page integrating video player, channel actions, comments feed, and recommended sidebar.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Data Flow &amp; Isolation Architecture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Unidirectional Data Flow: </a:t>
            </a:r>
            <a:r>
              <a:rPr sz="1000">
                <a:solidFill>
                  <a:srgbClr val="BEC3CD"/>
                </a:solidFill>
              </a:rPr>
              <a:t>Context state descends via hooks; child actions bubble up via context methods (toggleLike, addComment).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Prop-Drilling Elimination: </a:t>
            </a:r>
            <a:r>
              <a:rPr sz="1000">
                <a:solidFill>
                  <a:srgbClr val="BEC3CD"/>
                </a:solidFill>
              </a:rPr>
              <a:t>WatchPage, Navbar, and Sidebar independently consume useApp() without intermediary props.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Modular Route Segregation: </a:t>
            </a:r>
            <a:r>
              <a:rPr sz="1000">
                <a:solidFill>
                  <a:srgbClr val="BEC3CD"/>
                </a:solidFill>
              </a:rPr>
              <a:t>Distinct routes for /, /watch/:id, /shorts, /history, /liked, /watch-later, and /subscriptions.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Authentication Modal Isolation: </a:t>
            </a:r>
            <a:r>
              <a:rPr sz="1000">
                <a:solidFill>
                  <a:srgbClr val="BEC3CD"/>
                </a:solidFill>
              </a:rPr>
              <a:t>Client-side auth popup controlled by Context state, avoiding parent re-renders.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Dynamic Watch Route &amp; Embedded Video Engine (/watch/:id)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URL Extraction via useParams()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Dynamic Route Pattern: </a:t>
            </a:r>
            <a:r>
              <a:rPr sz="1000">
                <a:solidFill>
                  <a:srgbClr val="BEC3CD"/>
                </a:solidFill>
              </a:rPr>
              <a:t>Configured in App.jsx as &lt;Route path="/watch/:id" element={&lt;WatchPage /&gt;} /&gt;.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Runtime Extraction: </a:t>
            </a:r>
            <a:r>
              <a:rPr sz="1000">
                <a:solidFill>
                  <a:srgbClr val="BEC3CD"/>
                </a:solidFill>
              </a:rPr>
              <a:t>const { id } = useParams() instantly queries dataset without page reloads.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Graceful Fallback: </a:t>
            </a:r>
            <a:r>
              <a:rPr sz="1000">
                <a:solidFill>
                  <a:srgbClr val="BEC3CD"/>
                </a:solidFill>
              </a:rPr>
              <a:t>Fallback screen renders with redirect button if invalid or non-existent video ID is supplied.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Embedded 16:9 Streaming Engine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Native YouTube Embed: </a:t>
            </a:r>
            <a:r>
              <a:rPr sz="1000">
                <a:solidFill>
                  <a:srgbClr val="BEC3CD"/>
                </a:solidFill>
              </a:rPr>
              <a:t>Embeds legitimate YouTube stream IDs with autoplay, picture-in-picture, and fullscreen flags.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Auto-Scroll on Switch: </a:t>
            </a:r>
            <a:r>
              <a:rPr sz="1000">
                <a:solidFill>
                  <a:srgbClr val="BEC3CD"/>
                </a:solidFill>
              </a:rPr>
              <a:t>window.scrollTo(0, 0) fires in useEffect on [id] change for smooth navigation.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History Auto-Recording: </a:t>
            </a:r>
            <a:r>
              <a:rPr sz="1000">
                <a:solidFill>
                  <a:srgbClr val="BEC3CD"/>
                </a:solidFill>
              </a:rPr>
              <a:t>Automatically pushes viewed video into persistent Watch History via Context API.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Up-Next Recommendation Engine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Category-Aware Sidebar: </a:t>
            </a:r>
            <a:r>
              <a:rPr sz="1000">
                <a:solidFill>
                  <a:srgbClr val="BEC3CD"/>
                </a:solidFill>
              </a:rPr>
              <a:t>Automatically filters catalog to present related videos in right-hand column.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Seamless Swap: </a:t>
            </a:r>
            <a:r>
              <a:rPr sz="1000">
                <a:solidFill>
                  <a:srgbClr val="BEC3CD"/>
                </a:solidFill>
              </a:rPr>
              <a:t>Clicking recommendation triggers useNavigate('/watch/' + nextId) instantly swapping player state.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Interactive Action Bar: </a:t>
            </a:r>
            <a:r>
              <a:rPr sz="1000">
                <a:solidFill>
                  <a:srgbClr val="BEC3CD"/>
                </a:solidFill>
              </a:rPr>
              <a:t>Interactive Like, Watch Later, and Clipboard Share with instant toast feedback.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Interactive Comments System with useRef &amp; Dynamic Sorting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Targeted DOM Access via useRef Hook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Direct Input Referencing: </a:t>
            </a:r>
            <a:r>
              <a:rPr sz="1000">
                <a:solidFill>
                  <a:srgbClr val="BEC3CD"/>
                </a:solidFill>
              </a:rPr>
              <a:t>Initialized via const commentInputRef = useRef(null) and bound to input element.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Programmatic Focus: </a:t>
            </a:r>
            <a:r>
              <a:rPr sz="1000">
                <a:solidFill>
                  <a:srgbClr val="BEC3CD"/>
                </a:solidFill>
              </a:rPr>
              <a:t>Calling commentInputRef.current.focus() focuses comment box without triggering component re-rendering.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Controlled State Binding: </a:t>
            </a:r>
            <a:r>
              <a:rPr sz="1000">
                <a:solidFill>
                  <a:srgbClr val="BEC3CD"/>
                </a:solidFill>
              </a:rPr>
              <a:t>Controlled input state (useState) manages character text, clearing cleanly upon submission.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Defensible Viva Design: </a:t>
            </a:r>
            <a:r>
              <a:rPr sz="1000">
                <a:solidFill>
                  <a:srgbClr val="BEC3CD"/>
                </a:solidFill>
              </a:rPr>
              <a:t>Demonstrates genuine understanding of DOM interaction vs state mutations.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Multi-Video Comment Isolation &amp; Sorting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Isolated Video Keys: </a:t>
            </a:r>
            <a:r>
              <a:rPr sz="1000">
                <a:solidFill>
                  <a:srgbClr val="BEC3CD"/>
                </a:solidFill>
              </a:rPr>
              <a:t>Comments mapped in state dictionary by video ID: comments[videoId] = [...].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Dynamic Sorting Engine: </a:t>
            </a:r>
            <a:r>
              <a:rPr sz="1000">
                <a:solidFill>
                  <a:srgbClr val="BEC3CD"/>
                </a:solidFill>
              </a:rPr>
              <a:t>Users toggle between Top Comments (sorted by upvote count) and Newest First (chronological order).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Optimistic Updates: </a:t>
            </a:r>
            <a:r>
              <a:rPr sz="1000">
                <a:solidFill>
                  <a:srgbClr val="BEC3CD"/>
                </a:solidFill>
              </a:rPr>
              <a:t>Submitted comments appear instantly at the head of the feed with 'Just now' timestamp.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Persistent Storage: </a:t>
            </a:r>
            <a:r>
              <a:rPr sz="1000">
                <a:solidFill>
                  <a:srgbClr val="BEC3CD"/>
                </a:solidFill>
              </a:rPr>
              <a:t>New comments persist to browser localStorage, retaining discussion threads across visits.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Global State Architecture (Context API) &amp; LocalStorage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Context API Design (AppContext)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Single Source of Truth: </a:t>
            </a:r>
            <a:r>
              <a:rPr sz="1000">
                <a:solidFill>
                  <a:srgbClr val="BEC3CD"/>
                </a:solidFill>
              </a:rPr>
              <a:t>Centralizes state for videos, shorts, likes, watch later, history, subscriptions, and comments.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Custom Hook Convenience: </a:t>
            </a:r>
            <a:r>
              <a:rPr sz="1000">
                <a:solidFill>
                  <a:srgbClr val="BEC3CD"/>
                </a:solidFill>
              </a:rPr>
              <a:t>Encapsulates consumer logic into useApp(), throwing errors if accessed outside Provider.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High Modularity: </a:t>
            </a:r>
            <a:r>
              <a:rPr sz="1000">
                <a:solidFill>
                  <a:srgbClr val="BEC3CD"/>
                </a:solidFill>
              </a:rPr>
              <a:t>Decouples UI rendering from business logic and data mutations.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LocalStorage Synchronization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Lazy State Initializers: </a:t>
            </a:r>
            <a:r>
              <a:rPr sz="1000">
                <a:solidFill>
                  <a:srgbClr val="BEC3CD"/>
                </a:solidFill>
              </a:rPr>
              <a:t>State initializes directly from localStorage.getItem() with safe fallback defaults.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Reactive Serialization: </a:t>
            </a:r>
            <a:r>
              <a:rPr sz="1000">
                <a:solidFill>
                  <a:srgbClr val="BEC3CD"/>
                </a:solidFill>
              </a:rPr>
              <a:t>Dedicated useEffect listeners automatically serialize state changes to browser storage.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Offline Data Durability: </a:t>
            </a:r>
            <a:r>
              <a:rPr sz="1000">
                <a:solidFill>
                  <a:srgbClr val="BEC3CD"/>
                </a:solidFill>
              </a:rPr>
              <a:t>Liked videos, watch history, and user settings persist across page reloads and browser sessions.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Client-Side Authentication Pattern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Curriculum-Aligned Auth: </a:t>
            </a:r>
            <a:r>
              <a:rPr sz="1000">
                <a:solidFill>
                  <a:srgbClr val="BEC3CD"/>
                </a:solidFill>
              </a:rPr>
              <a:t>Implements teacher-recommended modal sign-in/sign-up pattern (ecom class architecture).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Session State: </a:t>
            </a:r>
            <a:r>
              <a:rPr sz="1000">
                <a:solidFill>
                  <a:srgbClr val="BEC3CD"/>
                </a:solidFill>
              </a:rPr>
              <a:t>Tracks user name, university email, and dynamic avatar status in persistent state.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Access Validation: </a:t>
            </a:r>
            <a:r>
              <a:rPr sz="1000">
                <a:solidFill>
                  <a:srgbClr val="BEC3CD"/>
                </a:solidFill>
              </a:rPr>
              <a:t>Displays toast alerts prompting sign-in when attempting protected actions like upload or comment.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Creator Ecosystem &amp; Exact 2026 YouTube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Global Megastars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MrBeast: </a:t>
            </a:r>
            <a:r>
              <a:rPr sz="1000">
                <a:solidFill>
                  <a:srgbClr val="BEC3CD"/>
                </a:solidFill>
              </a:rPr>
              <a:t>522M subscribers — YouTube's #1 creator; features 7-Days Stranded and Private Island challenges.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T-Series: </a:t>
            </a:r>
            <a:r>
              <a:rPr sz="1000">
                <a:solidFill>
                  <a:srgbClr val="BEC3CD"/>
                </a:solidFill>
              </a:rPr>
              <a:t>316M subscribers — World's leading Indian music label; features viral soundtrack releases.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Techno Gamerz (Ujjwal): </a:t>
            </a:r>
            <a:r>
              <a:rPr sz="1000">
                <a:solidFill>
                  <a:srgbClr val="BEC3CD"/>
                </a:solidFill>
              </a:rPr>
              <a:t>53.4M subscribers — India's gaming icon; features GTA 5 Episode 147 and Minecraft survival.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Comedy &amp; Specialized Gaming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Samay Raina: </a:t>
            </a:r>
            <a:r>
              <a:rPr sz="1000">
                <a:solidFill>
                  <a:srgbClr val="BEC3CD"/>
                </a:solidFill>
              </a:rPr>
              <a:t>7.65M subscribers — Standup comedy &amp; India's Got Latent episodes featuring top guest panels.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Wemmbu: </a:t>
            </a:r>
            <a:r>
              <a:rPr sz="1000">
                <a:solidFill>
                  <a:srgbClr val="BEC3CD"/>
                </a:solidFill>
              </a:rPr>
              <a:t>3.45M subscribers — Hardcore Minecraft survival, traps, and secret base architectural walkthroughs.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Verified Community: </a:t>
            </a:r>
            <a:r>
              <a:rPr sz="1000">
                <a:solidFill>
                  <a:srgbClr val="BEC3CD"/>
                </a:solidFill>
              </a:rPr>
              <a:t>8 Verified Channels — Multi-category coverage spanning Coding, Comedy, Music, and Gaming.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Syllabus &amp; Education Channels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freeCodeCamp.org: </a:t>
            </a:r>
            <a:r>
              <a:rPr sz="1000">
                <a:solidFill>
                  <a:srgbClr val="BEC3CD"/>
                </a:solidFill>
              </a:rPr>
              <a:t>12.0M subscribers — Industry standard open curriculum; features comprehensive 10-Hour DSA course.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Chai aur Code (Hitesh): </a:t>
            </a:r>
            <a:r>
              <a:rPr sz="1000">
                <a:solidFill>
                  <a:srgbClr val="BEC3CD"/>
                </a:solidFill>
              </a:rPr>
              <a:t>645K subscribers — Hindi developer education; features foundational React 19 series.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NeetCode / Striver: </a:t>
            </a:r>
            <a:r>
              <a:rPr sz="1000">
                <a:solidFill>
                  <a:srgbClr val="BEC3CD"/>
                </a:solidFill>
              </a:rPr>
              <a:t>980K subscribers — Data structures, competitive algorithms, and tech interview masterclasses.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Multi-Device Responsive Design &amp; Modern UI/UX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Responsive Breakpoints Architecture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Desktop (&gt;1150px): </a:t>
            </a:r>
            <a:r>
              <a:rPr sz="1000">
                <a:solidFill>
                  <a:srgbClr val="BEC3CD"/>
                </a:solidFill>
              </a:rPr>
              <a:t>4-column feed grid, collapsible full sidebar, dual-column Watch page with sidebar queue.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Tablet (768px - 1150px): </a:t>
            </a:r>
            <a:r>
              <a:rPr sz="1000">
                <a:solidFill>
                  <a:srgbClr val="BEC3CD"/>
                </a:solidFill>
              </a:rPr>
              <a:t>2-3 column fluid grid, compact icon sidebar, stacked Watch page layout.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Mobile (&lt;480px): </a:t>
            </a:r>
            <a:r>
              <a:rPr sz="1000">
                <a:solidFill>
                  <a:srgbClr val="BEC3CD"/>
                </a:solidFill>
              </a:rPr>
              <a:t>Single column full-bleed cards, bottom navigation parity, full-width responsive video player.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Live Search Autocomplete Engine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Instant Substring Matching: </a:t>
            </a:r>
            <a:r>
              <a:rPr sz="1000">
                <a:solidFill>
                  <a:srgbClr val="BEC3CD"/>
                </a:solidFill>
              </a:rPr>
              <a:t>Filters video titles, creator names, and tags in real-time as the user types.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Floating Dropdown Menu: </a:t>
            </a:r>
            <a:r>
              <a:rPr sz="1000">
                <a:solidFill>
                  <a:srgbClr val="BEC3CD"/>
                </a:solidFill>
              </a:rPr>
              <a:t>Rendered with subtle shadow elevation, keyboard accessibility, and outside-click dismiss.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Direct Video Launch: </a:t>
            </a:r>
            <a:r>
              <a:rPr sz="1000">
                <a:solidFill>
                  <a:srgbClr val="BEC3CD"/>
                </a:solidFill>
              </a:rPr>
              <a:t>Selecting any suggestion navigates straight to that video's dynamic player route.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Micro-Interactions &amp; Toast Bus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react-toastify Alerts: </a:t>
            </a:r>
            <a:r>
              <a:rPr sz="1000">
                <a:solidFill>
                  <a:srgbClr val="BEC3CD"/>
                </a:solidFill>
              </a:rPr>
              <a:t>Dark-themed feedback badges on likes, playlist additions, and clipboard copy.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Shorts Feed Scroll-Snap: </a:t>
            </a:r>
            <a:r>
              <a:rPr sz="1000">
                <a:solidFill>
                  <a:srgbClr val="BEC3CD"/>
                </a:solidFill>
              </a:rPr>
              <a:t>CSS scroll-snap-type: y mandatory for smooth vertical reel browsing.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Web Speech Voice Search: </a:t>
            </a:r>
            <a:r>
              <a:rPr sz="1000">
                <a:solidFill>
                  <a:srgbClr val="BEC3CD"/>
                </a:solidFill>
              </a:rPr>
              <a:t>Microphone transcription converting voice input to instant search queries.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Curriculum Alignment &amp; Faculty Reference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Class Reference Alignment (Mr. Shubham Kumar)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Reference Codebase Inspection: </a:t>
            </a:r>
            <a:r>
              <a:rPr sz="1000">
                <a:solidFill>
                  <a:srgbClr val="BEC3CD"/>
                </a:solidFill>
              </a:rPr>
              <a:t>Validated against faculty GitHub repository (shubhamkumar123456/G15-updated).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Course Hook Implementations: </a:t>
            </a:r>
            <a:r>
              <a:rPr sz="1000">
                <a:solidFill>
                  <a:srgbClr val="BEC3CD"/>
                </a:solidFill>
              </a:rPr>
              <a:t>Fully implements useParams, useRef, useEffect, and useState in accordance with semester syllabus.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State Architecture: </a:t>
            </a:r>
            <a:r>
              <a:rPr sz="1000">
                <a:solidFill>
                  <a:srgbClr val="BEC3CD"/>
                </a:solidFill>
              </a:rPr>
              <a:t>Context API and persistent LocalStorage follow faculty architectural patterns demonstrated in class.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Faculty Recommendations: </a:t>
            </a:r>
            <a:r>
              <a:rPr sz="1000">
                <a:solidFill>
                  <a:srgbClr val="BEC3CD"/>
                </a:solidFill>
              </a:rPr>
              <a:t>Incorporated react-toastify as explicitly recommended by faculty during lab lectures.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Evaluation-II Viva Readiness &amp; Proofs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Strict Production Separation: </a:t>
            </a:r>
            <a:r>
              <a:rPr sz="1000">
                <a:solidFill>
                  <a:srgbClr val="BEC3CD"/>
                </a:solidFill>
              </a:rPr>
              <a:t>Private viva preparation guides and scratch notes kept strictly local; only production code pushed to GitHub.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Measurable Metrics: </a:t>
            </a:r>
            <a:r>
              <a:rPr sz="1000">
                <a:solidFill>
                  <a:srgbClr val="BEC3CD"/>
                </a:solidFill>
              </a:rPr>
              <a:t>Zero external redirect bounces; 100% in-app streaming; 15 videos, 8 shorts across 9 categories.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Component Explainability: </a:t>
            </a:r>
            <a:r>
              <a:rPr sz="1000">
                <a:solidFill>
                  <a:srgbClr val="BEC3CD"/>
                </a:solidFill>
              </a:rPr>
              <a:t>Code written with clean modularity, standard variable naming, and clear functional boundaries for confident viva defense.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Standard File Naming: </a:t>
            </a:r>
            <a:r>
              <a:rPr sz="1000">
                <a:solidFill>
                  <a:srgbClr val="BEC3CD"/>
                </a:solidFill>
              </a:rPr>
              <a:t>Output deck formatted strictly as G15-PID-17.pdf and G15-PID-17.pptx for formal presentation.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EA6FF"/>
                </a:solidFill>
              </a:defRPr>
            </a:pPr>
            <a:r>
              <a:t>GROUP G15  •  PROJECT ID: G15-PID-17 (P-17)  •  EVALUATION-II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Technical Roadmap &amp; Scope for Phase 3 (MERN Stack)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B8293"/>
                </a:solidFill>
              </a:defRPr>
            </a:pPr>
            <a:r>
              <a:t>PheW TuBe: Video Streaming Platform (G15-PID-17)  |  Evaluation-II  |  Page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0033"/>
                </a:solidFill>
              </a:defRPr>
            </a:pPr>
            <a:r>
              <a:t>Phase 1: Foundation (Completed)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Complete UI Layout: </a:t>
            </a:r>
            <a:r>
              <a:rPr sz="1000">
                <a:solidFill>
                  <a:srgbClr val="BEC3CD"/>
                </a:solidFill>
              </a:rPr>
              <a:t>Dark theme layout, YouTube visual branding, and icon system.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Video &amp; Shorts Grid: </a:t>
            </a:r>
            <a:r>
              <a:rPr sz="1000">
                <a:solidFill>
                  <a:srgbClr val="BEC3CD"/>
                </a:solidFill>
              </a:rPr>
              <a:t>Multi-category filtering pills and responsive card layout.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0033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Navigation: </a:t>
            </a:r>
            <a:r>
              <a:rPr sz="1000">
                <a:solidFill>
                  <a:srgbClr val="BEC3CD"/>
                </a:solidFill>
              </a:rPr>
              <a:t>Sidebar navigation tabs and basic search input.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EA6FF"/>
                </a:solidFill>
              </a:defRPr>
            </a:pPr>
            <a:r>
              <a:t>Phase 2: SPA Architecture (Current)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Dynamic Route: </a:t>
            </a:r>
            <a:r>
              <a:rPr sz="1000">
                <a:solidFill>
                  <a:srgbClr val="BEC3CD"/>
                </a:solidFill>
              </a:rPr>
              <a:t>/watch/:id via useParams with embedded 16:9 streaming.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Interactive Comments: </a:t>
            </a:r>
            <a:r>
              <a:rPr sz="1000">
                <a:solidFill>
                  <a:srgbClr val="BEC3CD"/>
                </a:solidFill>
              </a:rPr>
              <a:t>DOM focus control via useRef and Top/Newest sorting.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EA6FF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State Bus &amp; Alerts: </a:t>
            </a:r>
            <a:r>
              <a:rPr sz="1000">
                <a:solidFill>
                  <a:srgbClr val="BEC3CD"/>
                </a:solidFill>
              </a:rPr>
              <a:t>Centralized Context API, LocalStorage sync, react-toastify, and Voice Search.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BA640"/>
                </a:solidFill>
              </a:defRPr>
            </a:pPr>
            <a:r>
              <a:t>Phase 3: Full Stack Scaling (Roadmap)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Node.js &amp; Express API: </a:t>
            </a:r>
            <a:r>
              <a:rPr sz="1000">
                <a:solidFill>
                  <a:srgbClr val="BEC3CD"/>
                </a:solidFill>
              </a:rPr>
              <a:t>RESTful backend endpoints replacing mock JSON dataset.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MongoDB &amp; Mongoose: </a:t>
            </a:r>
            <a:r>
              <a:rPr sz="1000">
                <a:solidFill>
                  <a:srgbClr val="BEC3CD"/>
                </a:solidFill>
              </a:rPr>
              <a:t>Cloud database storing user profiles, videos, and comments.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JWT Authentication: </a:t>
            </a:r>
            <a:r>
              <a:rPr sz="1000">
                <a:solidFill>
                  <a:srgbClr val="BEC3CD"/>
                </a:solidFill>
              </a:rPr>
              <a:t>Server-verified authentication with encrypted user tokens.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2BA640"/>
                </a:solidFill>
              </a:rPr>
              <a:t>• </a:t>
            </a:r>
            <a:r>
              <a:rPr b="1" sz="1000">
                <a:solidFill>
                  <a:srgbClr val="FFFFFF"/>
                </a:solidFill>
              </a:rPr>
              <a:t>Redux Toolkit: </a:t>
            </a:r>
            <a:r>
              <a:rPr sz="1000">
                <a:solidFill>
                  <a:srgbClr val="BEC3CD"/>
                </a:solidFill>
              </a:rPr>
              <a:t>Advanced cached state management and optimistic mutations.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