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731520" cy="73152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728655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Video Streaming Platform (YouTube-Style)</a:t>
            </a:r>
          </a:p>
          <a:p>
            <a:pPr>
              <a:spcBef>
                <a:spcPts val="400"/>
              </a:spcBef>
              <a:defRPr sz="1700" b="1">
                <a:solidFill>
                  <a:srgbClr val="FF0033"/>
                </a:solidFill>
              </a:defRPr>
            </a:pPr>
            <a:r>
              <a:t>Front End Engineering - II (25CSE0203) — Project Based Evaluation-I</a:t>
            </a:r>
          </a:p>
          <a:p>
            <a:pPr>
              <a:spcBef>
                <a:spcPts val="400"/>
              </a:spcBef>
              <a:defRPr sz="1300">
                <a:solidFill>
                  <a:srgbClr val="3EA6FF"/>
                </a:solidFill>
              </a:defRPr>
            </a:pPr>
            <a:r>
              <a:t>Department of Computer Science &amp; Engineering • Chitkara University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10728655" cy="292608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74320"/>
          <a:lstStyle/>
          <a:p>
            <a:pPr algn="ctr">
              <a:defRPr sz="1300" b="1">
                <a:solidFill>
                  <a:srgbClr val="FF0033"/>
                </a:solidFill>
              </a:defRPr>
            </a:pPr>
            <a:r>
              <a:t>TEAM MEMBERS (GROUP G15)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Kanav Chadha (Team Leader)  —  Roll No: 2510990649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Kishan  —  Roll No: 2510991457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Arsh Behl  —  Roll No: 2510991354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Soumajit Majee  —  Roll No: 2510990383</a:t>
            </a:r>
          </a:p>
        </p:txBody>
      </p:sp>
    </p:spTree>
  </p:cSld>
  <p:clrMapOvr>
    <a:masterClrMapping/>
  </p:clrMapOvr>
  <p:transition spd="fast">
    <p:push dir="l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Project Vision &amp; Core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38328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550" b="1">
                <a:solidFill>
                  <a:srgbClr val="3EA6FF"/>
                </a:solidFill>
              </a:defRPr>
            </a:pPr>
            <a:r>
              <a:t>01. The Problem &amp; Need</a:t>
            </a:r>
          </a:p>
          <a:p>
            <a:pPr>
              <a:spcBef>
                <a:spcPts val="800"/>
              </a:spcBef>
              <a:defRPr sz="1200">
                <a:solidFill>
                  <a:srgbClr val="C8CDD7"/>
                </a:solidFill>
              </a:defRPr>
            </a:pPr>
            <a:r>
              <a:t>• Modern video streaming interfaces require high responsiveness and fluid navigation without full browser refreshes.</a:t>
            </a:r>
          </a:p>
          <a:p>
            <a:pPr>
              <a:spcBef>
                <a:spcPts val="800"/>
              </a:spcBef>
              <a:defRPr sz="1200">
                <a:solidFill>
                  <a:srgbClr val="C8CDD7"/>
                </a:solidFill>
              </a:defRPr>
            </a:pPr>
            <a:r>
              <a:t>• Users expect instantaneous word-based filtering across titles, creator channels, and categorized feeds.</a:t>
            </a:r>
          </a:p>
          <a:p>
            <a:pPr>
              <a:spcBef>
                <a:spcPts val="800"/>
              </a:spcBef>
              <a:defRPr sz="1200">
                <a:solidFill>
                  <a:srgbClr val="C8CDD7"/>
                </a:solidFill>
              </a:defRPr>
            </a:pPr>
            <a:r>
              <a:t>• Need for a modular Single Page Application (SPA) architecture built strictly with standard curriculum web technologies.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338328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550" b="1">
                <a:solidFill>
                  <a:srgbClr val="FF0033"/>
                </a:solidFill>
              </a:defRPr>
            </a:pPr>
            <a:r>
              <a:t>02. What We Built</a:t>
            </a:r>
          </a:p>
          <a:p>
            <a:pPr>
              <a:spcBef>
                <a:spcPts val="800"/>
              </a:spcBef>
              <a:defRPr sz="1200">
                <a:solidFill>
                  <a:srgbClr val="C8CDD7"/>
                </a:solidFill>
              </a:defRPr>
            </a:pPr>
            <a:r>
              <a:t>• A high-fidelity YouTube platform clone engineered in modern React 19 and Vite.</a:t>
            </a:r>
          </a:p>
          <a:p>
            <a:pPr>
              <a:spcBef>
                <a:spcPts val="800"/>
              </a:spcBef>
              <a:defRPr sz="1200">
                <a:solidFill>
                  <a:srgbClr val="C8CDD7"/>
                </a:solidFill>
              </a:defRPr>
            </a:pPr>
            <a:r>
              <a:t>• Complete multi-route navigation across Home, Shorts, Subscriptions, History, Liked Videos, and Playlists.</a:t>
            </a:r>
          </a:p>
          <a:p>
            <a:pPr>
              <a:spcBef>
                <a:spcPts val="800"/>
              </a:spcBef>
              <a:defRPr sz="1200">
                <a:solidFill>
                  <a:srgbClr val="C8CDD7"/>
                </a:solidFill>
              </a:defRPr>
            </a:pPr>
            <a:r>
              <a:t>• Responsive collapsible sidebar with full icon &amp; text synchronization.</a:t>
            </a:r>
          </a:p>
          <a:p>
            <a:pPr>
              <a:spcBef>
                <a:spcPts val="800"/>
              </a:spcBef>
              <a:defRPr sz="1200">
                <a:solidFill>
                  <a:srgbClr val="C8CDD7"/>
                </a:solidFill>
              </a:defRPr>
            </a:pPr>
            <a:r>
              <a:t>• Interactive video cards with real-time like/subscribe counters and external link handlers.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5008" y="1417320"/>
            <a:ext cx="338328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550" b="1">
                <a:solidFill>
                  <a:srgbClr val="3EA6FF"/>
                </a:solidFill>
              </a:defRPr>
            </a:pPr>
            <a:r>
              <a:t>03. Key Objectives</a:t>
            </a:r>
          </a:p>
          <a:p>
            <a:pPr>
              <a:spcBef>
                <a:spcPts val="800"/>
              </a:spcBef>
              <a:defRPr sz="1200">
                <a:solidFill>
                  <a:srgbClr val="C8CDD7"/>
                </a:solidFill>
              </a:defRPr>
            </a:pPr>
            <a:r>
              <a:t>• 100% Component-Driven Architecture with clean separation between Data and UI Presentation.</a:t>
            </a:r>
          </a:p>
          <a:p>
            <a:pPr>
              <a:spcBef>
                <a:spcPts val="800"/>
              </a:spcBef>
              <a:defRPr sz="1200">
                <a:solidFill>
                  <a:srgbClr val="C8CDD7"/>
                </a:solidFill>
              </a:defRPr>
            </a:pPr>
            <a:r>
              <a:t>• Zero-latency word-boundary controlled search filtering without external API dependencies.</a:t>
            </a:r>
          </a:p>
          <a:p>
            <a:pPr>
              <a:spcBef>
                <a:spcPts val="800"/>
              </a:spcBef>
              <a:defRPr sz="1200">
                <a:solidFill>
                  <a:srgbClr val="C8CDD7"/>
                </a:solidFill>
              </a:defRPr>
            </a:pPr>
            <a:r>
              <a:t>• Global State synchronization ensuring user interactions seamlessly persist across all playlist views.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Syllabus-Aligned Technology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FF0033"/>
                </a:solidFill>
              </a:defRPr>
            </a:pPr>
            <a:r>
              <a:t>React 19 (Core UI Library)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Functional components, React Hooks (useState, useMemo), Synthetic Events, and Virtual DOM reconciliation with unique key identifiers for optimized renders.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173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FF0033"/>
                </a:solidFill>
              </a:defRPr>
            </a:pPr>
            <a:r>
              <a:t>Vite 8.x (Build &amp; Tooling)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Modern ESM bundler delivering instant Hot Module Replacement (HMR) and optimized 500ms production builds with clean asset chunking.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React Router DOM 7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Declarative client-side routing using BrowserRouter, Routes, Route, Link, and useLocation without triggering browser page refreshes.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0175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React Icons 5.x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Scalable vector SVG icon components (Material Design, FontAwesome, Simple Icons) cleanly styled via CSS.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177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FF0033"/>
                </a:solidFill>
              </a:defRPr>
            </a:pPr>
            <a:r>
              <a:t>Pure Modern CSS3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Dark-theme design system using CSS Custom Properties (Variables), CSS Grid (auto-fill minmax), Flexbox layouts, and Media Queries.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6177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Centralized Data Layer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Decoupled array-of-objects data model in videoData.js feeding clean presentation cards via standard ES6 .map() iterations.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Core Component Architecture &amp; Modularity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Navbar.jsx (Top App Bar)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Controlled search input, dynamic clear button (X), animated mic button, notification badge, and sidebar toggle hamburger.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173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Sidebar.jsx (Collapsible Navigation)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Two-tier responsive navigation with full &amp; collapsed modes, direct YouTube channel links, and real-time active route styling.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FF0033"/>
                </a:solidFill>
              </a:defRPr>
            </a:pPr>
            <a:r>
              <a:t>VideoCard.jsx (Feed Cards)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16:9 aspect-ratio cards with duration badges, verified channel badges, hover play overlays, and interactive Like/Subscribe toggles.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0175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FF0033"/>
                </a:solidFill>
              </a:defRPr>
            </a:pPr>
            <a:r>
              <a:t>ShortsCard.jsx (Vertical Shorts)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Vertical 9:16 aspect-ratio cards displaying view counts, creator avatars, and dedicated YouTube Shorts launch handlers.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177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CategoryChips.jsx (Filter Bar)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Horizontal chip bar allowing 1-click filtering across Coding, React, DSA, Gaming, Comedy, Music, and Entertainment.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6177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Library Playlist Pages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Dedicated route pages for Subscriptions feed, Liked Videos auto-playlist, Watch Later queue, Watch History, and 404 handler.</a:t>
            </a:r>
          </a:p>
        </p:txBody>
      </p:sp>
    </p:spTree>
  </p:cSld>
  <p:clrMapOvr>
    <a:masterClrMapping/>
  </p:clrMapOvr>
  <p:transition spd="fast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Search Engine &amp; Word-Based Filtering Mechanism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48640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74320"/>
          <a:lstStyle/>
          <a:p>
            <a:pPr algn="ctr">
              <a:defRPr sz="1700" b="1">
                <a:solidFill>
                  <a:srgbClr val="FF0033"/>
                </a:solidFill>
              </a:defRPr>
            </a:pPr>
            <a:r>
              <a:t>Controlled Search Engine Architecture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Controlled Input Binding (useState): </a:t>
            </a:r>
            <a:r>
              <a:rPr b="0" sz="1150">
                <a:solidFill>
                  <a:srgbClr val="C8CDD7"/>
                </a:solidFill>
              </a:rPr>
              <a:t>Search bar value is bound to searchQuery in App.jsx. Keystrokes trigger immediate re-renders without browser reload.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Word-Boundary Token Matching: </a:t>
            </a:r>
            <a:r>
              <a:rPr b="0" sz="1150">
                <a:solidFill>
                  <a:srgbClr val="C8CDD7"/>
                </a:solidFill>
              </a:rPr>
              <a:t>Evaluates keywords using word prefixes (.startsWith()) so queries like 'React' or 'GTA' match accurately without false substring hits.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Dual Search &amp; Chip Synergy: </a:t>
            </a:r>
            <a:r>
              <a:rPr b="0" sz="1150">
                <a:solidFill>
                  <a:srgbClr val="C8CDD7"/>
                </a:solidFill>
              </a:rPr>
              <a:t>Combines free-text keyword search seamlessly with active Category Chips (e.g. Coding, Gaming, DSA) for high-precision filtering.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Dynamic Status Header: </a:t>
            </a:r>
            <a:r>
              <a:rPr b="0" sz="1150">
                <a:solidFill>
                  <a:srgbClr val="C8CDD7"/>
                </a:solidFill>
              </a:rPr>
              <a:t>Renders live query feedback (e.g. Results for 'React' - 2 videos found) with instant UI synchronization.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Zero-Match Fallback Handler: </a:t>
            </a:r>
            <a:r>
              <a:rPr b="0" sz="1150">
                <a:solidFill>
                  <a:srgbClr val="C8CDD7"/>
                </a:solidFill>
              </a:rPr>
              <a:t>Gracefully renders an empty-state message with a 1-click 'Reset Filter' button if zero videos match.</a:t>
            </a:r>
          </a:p>
        </p:txBody>
      </p:sp>
      <p:pic>
        <p:nvPicPr>
          <p:cNvPr id="7" name="Picture 6" descr="ui_search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10912" cy="4892040"/>
          </a:xfrm>
          <a:prstGeom prst="rect">
            <a:avLst/>
          </a:prstGeom>
        </p:spPr>
      </p:pic>
    </p:spTree>
  </p:cSld>
  <p:clrMapOvr>
    <a:masterClrMapping/>
  </p:clrMapOvr>
  <p:transition spd="fast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State Management &amp; Auto-Playlist Synchronization</a:t>
            </a:r>
          </a:p>
        </p:txBody>
      </p:sp>
      <p:pic>
        <p:nvPicPr>
          <p:cNvPr id="6" name="Picture 5" descr="ui_sync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010912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417320"/>
            <a:ext cx="5468112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74320"/>
          <a:lstStyle/>
          <a:p>
            <a:pPr algn="ctr">
              <a:defRPr sz="1700" b="1">
                <a:solidFill>
                  <a:srgbClr val="3EA6FF"/>
                </a:solidFill>
              </a:defRPr>
            </a:pPr>
            <a:r>
              <a:t>Reactive State Flow Across Playlists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Centralized State Hub (App.jsx): </a:t>
            </a:r>
            <a:r>
              <a:rPr b="0" sz="1150">
                <a:solidFill>
                  <a:srgbClr val="C8CDD7"/>
                </a:solidFill>
              </a:rPr>
              <a:t>Global states (likedVideoIds, subscribedChannels, searchQuery) live at root level and pass to components via props.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Instant Liked Videos Sync (/liked): </a:t>
            </a:r>
            <a:r>
              <a:rPr b="0" sz="1150">
                <a:solidFill>
                  <a:srgbClr val="C8CDD7"/>
                </a:solidFill>
              </a:rPr>
              <a:t>Clicking Like on any Video or Short immediately updates likedVideoIds state and updates the Liked Videos playlist view in real time.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Live Subscriptions Sync (/subscriptions): </a:t>
            </a:r>
            <a:r>
              <a:rPr b="0" sz="1150">
                <a:solidFill>
                  <a:srgbClr val="C8CDD7"/>
                </a:solidFill>
              </a:rPr>
              <a:t>Subscribing to creators in Sidebar or on Cards updates subscribedChannels, instantly filtering the Subscriptions feed.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Cross-Route State Persistence: </a:t>
            </a:r>
            <a:r>
              <a:rPr b="0" sz="1150">
                <a:solidFill>
                  <a:srgbClr val="C8CDD7"/>
                </a:solidFill>
              </a:rPr>
              <a:t>Interactions remain consistent when navigating between Home, Shorts, Subscriptions, Liked, and History without data loss.</a:t>
            </a:r>
          </a:p>
          <a:p>
            <a:pPr>
              <a:spcBef>
                <a:spcPts val="800"/>
              </a:spcBef>
              <a:defRPr b="1" sz="1200">
                <a:solidFill>
                  <a:srgbClr val="FFFFFF"/>
                </a:solidFill>
              </a:defRPr>
            </a:pPr>
            <a:r>
              <a:t>• Optimized Virtual DOM Renders: </a:t>
            </a:r>
            <a:r>
              <a:rPr b="0" sz="1150">
                <a:solidFill>
                  <a:srgbClr val="C8CDD7"/>
                </a:solidFill>
              </a:rPr>
              <a:t>React list keys ensure only modified cards re-render, maintaining 60 FPS UI performance.</a:t>
            </a:r>
          </a:p>
        </p:txBody>
      </p:sp>
    </p:spTree>
  </p:cSld>
  <p:clrMapOvr>
    <a:masterClrMapping/>
  </p:clrMapOvr>
  <p:transition spd="fast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Creator Ecosystem &amp; Real Media Integration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57800" cy="224028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rbeast_is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37360"/>
            <a:ext cx="2331720" cy="13080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37560" y="1600200"/>
            <a:ext cx="2514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0033"/>
                </a:solidFill>
              </a:defRPr>
            </a:pPr>
            <a:r>
              <a:t>MrBeast (516M Subs)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Featured: $1 vs $250M Private Island &amp; 7 Days At Sea</a:t>
            </a:r>
          </a:p>
          <a:p>
            <a:pPr>
              <a:spcBef>
                <a:spcPts val="400"/>
              </a:spcBef>
              <a:defRPr sz="950">
                <a:solidFill>
                  <a:srgbClr val="C8CDD7"/>
                </a:solidFill>
              </a:defRPr>
            </a:pPr>
            <a:r>
              <a:t>Direct external YouTube watch &amp; channel links launched safely via window.open(url, '_blank').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17320"/>
            <a:ext cx="5257800" cy="224028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ta5_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37360"/>
            <a:ext cx="2331720" cy="13101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778240" y="1600200"/>
            <a:ext cx="2514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0033"/>
                </a:solidFill>
              </a:defRPr>
            </a:pPr>
            <a:r>
              <a:t>Techno Gamerz (53M Subs)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Featured: GTA 5 Heist #147 &amp; Minecraft #90</a:t>
            </a:r>
          </a:p>
          <a:p>
            <a:pPr>
              <a:spcBef>
                <a:spcPts val="400"/>
              </a:spcBef>
              <a:defRPr sz="950">
                <a:solidFill>
                  <a:srgbClr val="C8CDD7"/>
                </a:solidFill>
              </a:defRPr>
            </a:pPr>
            <a:r>
              <a:t>Direct external YouTube watch &amp; channel links launched safely via window.open(url, '_blank').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257800" cy="224028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atent_ep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60520"/>
            <a:ext cx="2331720" cy="174879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37560" y="4023360"/>
            <a:ext cx="2514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0033"/>
                </a:solidFill>
              </a:defRPr>
            </a:pPr>
            <a:r>
              <a:t>Samay Raina (11.4M Subs)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Featured: India's Got Latent S2 EP5 &amp; EP6</a:t>
            </a:r>
          </a:p>
          <a:p>
            <a:pPr>
              <a:spcBef>
                <a:spcPts val="400"/>
              </a:spcBef>
              <a:defRPr sz="950">
                <a:solidFill>
                  <a:srgbClr val="C8CDD7"/>
                </a:solidFill>
              </a:defRPr>
            </a:pPr>
            <a:r>
              <a:t>Direct external YouTube watch &amp; channel links launched safely via window.open(url, '_blank').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40480"/>
            <a:ext cx="5257800" cy="224028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hool_bhulaiya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160520"/>
            <a:ext cx="2331720" cy="131159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778240" y="4023360"/>
            <a:ext cx="2514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0033"/>
                </a:solidFill>
              </a:defRPr>
            </a:pPr>
            <a:r>
              <a:t>T-Series (315M Subs)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Featured: Bhool Bhulaiyaa 3 &amp; Tauba Tauba Tracks</a:t>
            </a:r>
          </a:p>
          <a:p>
            <a:pPr>
              <a:spcBef>
                <a:spcPts val="400"/>
              </a:spcBef>
              <a:defRPr sz="950">
                <a:solidFill>
                  <a:srgbClr val="C8CDD7"/>
                </a:solidFill>
              </a:defRPr>
            </a:pPr>
            <a:r>
              <a:t>Direct external YouTube watch &amp; channel links launched safely via window.open(url, '_blank').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Future Engineering Scope &amp; Technical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38328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Phase 2: Node.js &amp; Express REST Backend</a:t>
            </a:r>
          </a:p>
          <a:p>
            <a:pPr>
              <a:spcBef>
                <a:spcPts val="800"/>
              </a:spcBef>
              <a:defRPr sz="1200">
                <a:solidFill>
                  <a:srgbClr val="C8CDD7"/>
                </a:solidFill>
              </a:defRPr>
            </a:pPr>
            <a:r>
              <a:t>• Replace static mock data layer with a dedicated Node.js / Express.js REST API server.</a:t>
            </a:r>
          </a:p>
          <a:p>
            <a:pPr>
              <a:spcBef>
                <a:spcPts val="800"/>
              </a:spcBef>
              <a:defRPr sz="1200">
                <a:solidFill>
                  <a:srgbClr val="C8CDD7"/>
                </a:solidFill>
              </a:defRPr>
            </a:pPr>
            <a:r>
              <a:t>• Integrate MongoDB Atlas database for persistent video collections, user history, and custom playlist storage.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338328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450" b="1">
                <a:solidFill>
                  <a:srgbClr val="FF0033"/>
                </a:solidFill>
              </a:defRPr>
            </a:pPr>
            <a:r>
              <a:t>Phase 3: Live YouTube Data API v3</a:t>
            </a:r>
          </a:p>
          <a:p>
            <a:pPr>
              <a:spcBef>
                <a:spcPts val="800"/>
              </a:spcBef>
              <a:defRPr sz="1200">
                <a:solidFill>
                  <a:srgbClr val="C8CDD7"/>
                </a:solidFill>
              </a:defRPr>
            </a:pPr>
            <a:r>
              <a:t>• Fetch real-time live metrics (subscriber counts, up-to-the-minute view counters, comment counts).</a:t>
            </a:r>
          </a:p>
          <a:p>
            <a:pPr>
              <a:spcBef>
                <a:spcPts val="800"/>
              </a:spcBef>
              <a:defRPr sz="1200">
                <a:solidFill>
                  <a:srgbClr val="C8CDD7"/>
                </a:solidFill>
              </a:defRPr>
            </a:pPr>
            <a:r>
              <a:t>• Dynamic automated YouTube video search querying official Google APIs.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5008" y="1417320"/>
            <a:ext cx="338328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Phase 4: Authentication &amp; Video Player Hub</a:t>
            </a:r>
          </a:p>
          <a:p>
            <a:pPr>
              <a:spcBef>
                <a:spcPts val="800"/>
              </a:spcBef>
              <a:defRPr sz="1200">
                <a:solidFill>
                  <a:srgbClr val="C8CDD7"/>
                </a:solidFill>
              </a:defRPr>
            </a:pPr>
            <a:r>
              <a:t>• Implement secure User Authentication via JWT &amp; Google OAuth 2.0 login.</a:t>
            </a:r>
          </a:p>
          <a:p>
            <a:pPr>
              <a:spcBef>
                <a:spcPts val="800"/>
              </a:spcBef>
              <a:defRPr sz="1200">
                <a:solidFill>
                  <a:srgbClr val="C8CDD7"/>
                </a:solidFill>
              </a:defRPr>
            </a:pPr>
            <a:r>
              <a:t>• Build an embedded custom HTML5 / React Player with comments, timestamps, and personalized video queueing.</a:t>
            </a:r>
          </a:p>
        </p:txBody>
      </p:sp>
    </p:spTree>
  </p:cSld>
  <p:clrMapOvr>
    <a:masterClrMapping/>
  </p:clrMapOvr>
  <p:transition spd="fast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hankyou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38504"/>
            <a:ext cx="10362895" cy="5180990"/>
          </a:xfrm>
          <a:prstGeom prst="rect">
            <a:avLst/>
          </a:prstGeom>
        </p:spPr>
      </p:pic>
    </p:spTree>
  </p:cSld>
  <p:clrMapOvr>
    <a:masterClrMapping/>
  </p:clrMapOvr>
  <p:transition spd="fast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